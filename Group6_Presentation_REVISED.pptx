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8" r:id="rId6"/>
    <p:sldId id="260" r:id="rId7"/>
    <p:sldId id="261" r:id="rId8"/>
    <p:sldId id="262" r:id="rId9"/>
    <p:sldId id="263" r:id="rId10"/>
    <p:sldId id="264" r:id="rId11"/>
    <p:sldId id="265" r:id="rId12"/>
    <p:sldId id="269" r:id="rId13"/>
    <p:sldId id="266" r:id="rId14"/>
    <p:sldId id="267" r:id="rId15"/>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2844C3-92CF-BA48-BF85-8BB4B6FE5EAC}" v="1" dt="2026-06-26T18:51:38.8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80685"/>
  </p:normalViewPr>
  <p:slideViewPr>
    <p:cSldViewPr snapToGrid="0" snapToObjects="1">
      <p:cViewPr varScale="1">
        <p:scale>
          <a:sx n="66" d="100"/>
          <a:sy n="66" d="100"/>
        </p:scale>
        <p:origin x="1219" y="6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3516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a:effectLst/>
      </p:bgPr>
    </p:bg>
    <p:spTree>
      <p:nvGrpSpPr>
        <p:cNvPr id="1" name=""/>
        <p:cNvGrpSpPr/>
        <p:nvPr/>
      </p:nvGrpSpPr>
      <p:grpSpPr>
        <a:xfrm>
          <a:off x="0" y="0"/>
          <a:ext cx="0" cy="0"/>
          <a:chOff x="0" y="0"/>
          <a:chExt cx="0" cy="0"/>
        </a:xfrm>
      </p:grpSpPr>
      <p:sp>
        <p:nvSpPr>
          <p:cNvPr id="2" name="Shape 0"/>
          <p:cNvSpPr/>
          <p:nvPr/>
        </p:nvSpPr>
        <p:spPr>
          <a:xfrm>
            <a:off x="10058400" y="-1463040"/>
            <a:ext cx="3840480" cy="3840480"/>
          </a:xfrm>
          <a:prstGeom prst="ellipse">
            <a:avLst/>
          </a:prstGeom>
          <a:solidFill>
            <a:srgbClr val="2C3A4A"/>
          </a:solidFill>
          <a:ln/>
        </p:spPr>
        <p:txBody>
          <a:bodyPr/>
          <a:lstStyle/>
          <a:p>
            <a:endParaRPr lang="en-US"/>
          </a:p>
        </p:txBody>
      </p:sp>
      <p:sp>
        <p:nvSpPr>
          <p:cNvPr id="3" name="Shape 1"/>
          <p:cNvSpPr/>
          <p:nvPr/>
        </p:nvSpPr>
        <p:spPr>
          <a:xfrm>
            <a:off x="10881360" y="4846320"/>
            <a:ext cx="2743200" cy="2743200"/>
          </a:xfrm>
          <a:prstGeom prst="ellipse">
            <a:avLst/>
          </a:prstGeom>
          <a:solidFill>
            <a:srgbClr val="2C3A4A"/>
          </a:solidFill>
          <a:ln/>
        </p:spPr>
        <p:txBody>
          <a:bodyPr/>
          <a:lstStyle/>
          <a:p>
            <a:endParaRPr lang="en-US"/>
          </a:p>
        </p:txBody>
      </p:sp>
      <p:sp>
        <p:nvSpPr>
          <p:cNvPr id="4" name="Text 2"/>
          <p:cNvSpPr/>
          <p:nvPr/>
        </p:nvSpPr>
        <p:spPr>
          <a:xfrm>
            <a:off x="548640" y="1874520"/>
            <a:ext cx="10058400" cy="822960"/>
          </a:xfrm>
          <a:prstGeom prst="rect">
            <a:avLst/>
          </a:prstGeom>
          <a:noFill/>
          <a:ln/>
        </p:spPr>
        <p:txBody>
          <a:bodyPr wrap="square" lIns="0" tIns="0" rIns="0" bIns="0" rtlCol="0" anchor="ctr"/>
          <a:lstStyle/>
          <a:p>
            <a:pPr marL="0" indent="0">
              <a:buNone/>
            </a:pPr>
            <a:r>
              <a:rPr lang="en-US" sz="4200" b="1" dirty="0">
                <a:solidFill>
                  <a:srgbClr val="FFFFFF"/>
                </a:solidFill>
                <a:latin typeface="Arial" pitchFamily="34" charset="0"/>
                <a:ea typeface="Arial" pitchFamily="34" charset="-122"/>
                <a:cs typeface="Arial" pitchFamily="34" charset="-120"/>
              </a:rPr>
              <a:t>ENTERPRISE RISK ASSESSMENT</a:t>
            </a:r>
            <a:endParaRPr lang="en-US" sz="4200" dirty="0"/>
          </a:p>
        </p:txBody>
      </p:sp>
      <p:sp>
        <p:nvSpPr>
          <p:cNvPr id="5" name="Text 3"/>
          <p:cNvSpPr/>
          <p:nvPr/>
        </p:nvSpPr>
        <p:spPr>
          <a:xfrm>
            <a:off x="548640" y="2788920"/>
            <a:ext cx="9784080" cy="822960"/>
          </a:xfrm>
          <a:prstGeom prst="rect">
            <a:avLst/>
          </a:prstGeom>
          <a:noFill/>
          <a:ln/>
        </p:spPr>
        <p:txBody>
          <a:bodyPr wrap="square" lIns="0" tIns="0" rIns="0" bIns="0" rtlCol="0" anchor="ctr"/>
          <a:lstStyle/>
          <a:p>
            <a:pPr marL="0" indent="0">
              <a:buNone/>
            </a:pPr>
            <a:r>
              <a:rPr lang="en-US" sz="1900" dirty="0">
                <a:solidFill>
                  <a:srgbClr val="FF9900"/>
                </a:solidFill>
                <a:latin typeface="Arial" pitchFamily="34" charset="0"/>
                <a:ea typeface="Arial" pitchFamily="34" charset="-122"/>
                <a:cs typeface="Arial" pitchFamily="34" charset="-120"/>
              </a:rPr>
              <a:t>Amazon’s Proposed Acquisition of an AI-Powered Last-Mile Delivery Optimization Platform (RIVR)</a:t>
            </a:r>
            <a:endParaRPr lang="en-US" sz="1900" dirty="0"/>
          </a:p>
        </p:txBody>
      </p:sp>
      <p:sp>
        <p:nvSpPr>
          <p:cNvPr id="6" name="Text 4"/>
          <p:cNvSpPr/>
          <p:nvPr/>
        </p:nvSpPr>
        <p:spPr>
          <a:xfrm>
            <a:off x="548640" y="4114800"/>
            <a:ext cx="10058400" cy="365760"/>
          </a:xfrm>
          <a:prstGeom prst="rect">
            <a:avLst/>
          </a:prstGeom>
          <a:noFill/>
          <a:ln/>
        </p:spPr>
        <p:txBody>
          <a:bodyPr wrap="square" lIns="0" tIns="0" rIns="0" bIns="0" rtlCol="0" anchor="ctr"/>
          <a:lstStyle/>
          <a:p>
            <a:pPr marL="0" indent="0">
              <a:buNone/>
            </a:pPr>
            <a:r>
              <a:rPr lang="en-US" sz="1400" dirty="0">
                <a:solidFill>
                  <a:srgbClr val="C9CDD2"/>
                </a:solidFill>
                <a:latin typeface="Arial" pitchFamily="34" charset="0"/>
                <a:ea typeface="Arial" pitchFamily="34" charset="-122"/>
                <a:cs typeface="Arial" pitchFamily="34" charset="-120"/>
              </a:rPr>
              <a:t>ALY 6130 – Risk Management Analytics   |   Northeastern University   |   Instructor: Abeba Nigussie Turi</a:t>
            </a:r>
            <a:endParaRPr lang="en-US" sz="1400" dirty="0"/>
          </a:p>
        </p:txBody>
      </p:sp>
      <p:sp>
        <p:nvSpPr>
          <p:cNvPr id="7" name="Text 5"/>
          <p:cNvSpPr/>
          <p:nvPr/>
        </p:nvSpPr>
        <p:spPr>
          <a:xfrm>
            <a:off x="548640" y="4526280"/>
            <a:ext cx="10058400" cy="365760"/>
          </a:xfrm>
          <a:prstGeom prst="rect">
            <a:avLst/>
          </a:prstGeom>
          <a:noFill/>
          <a:ln/>
        </p:spPr>
        <p:txBody>
          <a:bodyPr wrap="square" lIns="0" tIns="0" rIns="0" bIns="0" rtlCol="0" anchor="ctr"/>
          <a:lstStyle/>
          <a:p>
            <a:pPr marL="0" indent="0">
              <a:buNone/>
            </a:pPr>
            <a:r>
              <a:rPr lang="en-US" sz="1400" dirty="0">
                <a:solidFill>
                  <a:srgbClr val="C9CDD2"/>
                </a:solidFill>
                <a:latin typeface="Arial" pitchFamily="34" charset="0"/>
                <a:ea typeface="Arial" pitchFamily="34" charset="-122"/>
                <a:cs typeface="Arial" pitchFamily="34" charset="-120"/>
              </a:rPr>
              <a:t>Group 6:  Sandra Amponsah   |   Truc Linh Hoang   |   Victoria Kpetigo</a:t>
            </a:r>
            <a:endParaRPr lang="en-US" sz="1400" dirty="0"/>
          </a:p>
        </p:txBody>
      </p:sp>
      <p:sp>
        <p:nvSpPr>
          <p:cNvPr id="8" name="Text 6"/>
          <p:cNvSpPr/>
          <p:nvPr/>
        </p:nvSpPr>
        <p:spPr>
          <a:xfrm>
            <a:off x="548640" y="4983480"/>
            <a:ext cx="1005840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June 26,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PRESENTATION AGENDA</a:t>
            </a:r>
            <a:endParaRPr lang="en-US" sz="1200" dirty="0"/>
          </a:p>
        </p:txBody>
      </p:sp>
      <p:sp>
        <p:nvSpPr>
          <p:cNvPr id="3" name="Text 1"/>
          <p:cNvSpPr/>
          <p:nvPr/>
        </p:nvSpPr>
        <p:spPr>
          <a:xfrm>
            <a:off x="548640" y="749808"/>
            <a:ext cx="100584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What This Assessment Covers</a:t>
            </a:r>
            <a:endParaRPr lang="en-US" sz="2600" dirty="0"/>
          </a:p>
        </p:txBody>
      </p:sp>
      <p:sp>
        <p:nvSpPr>
          <p:cNvPr id="4" name="Shape 2"/>
          <p:cNvSpPr/>
          <p:nvPr/>
        </p:nvSpPr>
        <p:spPr>
          <a:xfrm>
            <a:off x="548640" y="173736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5" name="Shape 3"/>
          <p:cNvSpPr/>
          <p:nvPr/>
        </p:nvSpPr>
        <p:spPr>
          <a:xfrm>
            <a:off x="713232" y="1856232"/>
            <a:ext cx="475488" cy="475488"/>
          </a:xfrm>
          <a:prstGeom prst="ellipse">
            <a:avLst/>
          </a:prstGeom>
          <a:solidFill>
            <a:srgbClr val="FF9900"/>
          </a:solidFill>
          <a:ln/>
        </p:spPr>
        <p:txBody>
          <a:bodyPr/>
          <a:lstStyle/>
          <a:p>
            <a:endParaRPr lang="en-US"/>
          </a:p>
        </p:txBody>
      </p:sp>
      <p:sp>
        <p:nvSpPr>
          <p:cNvPr id="6" name="Text 4"/>
          <p:cNvSpPr/>
          <p:nvPr/>
        </p:nvSpPr>
        <p:spPr>
          <a:xfrm>
            <a:off x="713232" y="1856232"/>
            <a:ext cx="475488" cy="475488"/>
          </a:xfrm>
          <a:prstGeom prst="rect">
            <a:avLst/>
          </a:prstGeom>
          <a:noFill/>
          <a:ln/>
        </p:spPr>
        <p:txBody>
          <a:bodyPr wrap="square" lIns="0" tIns="0" rIns="0" bIns="0"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01</a:t>
            </a:r>
            <a:endParaRPr lang="en-US" sz="1600" dirty="0"/>
          </a:p>
        </p:txBody>
      </p:sp>
      <p:sp>
        <p:nvSpPr>
          <p:cNvPr id="7" name="Text 5"/>
          <p:cNvSpPr/>
          <p:nvPr/>
        </p:nvSpPr>
        <p:spPr>
          <a:xfrm>
            <a:off x="1325880" y="1810512"/>
            <a:ext cx="4526280" cy="566928"/>
          </a:xfrm>
          <a:prstGeom prst="rect">
            <a:avLst/>
          </a:prstGeom>
          <a:noFill/>
          <a:ln/>
        </p:spPr>
        <p:txBody>
          <a:bodyPr wrap="square" lIns="0" tIns="0" rIns="0" bIns="0" rtlCol="0" anchor="ctr"/>
          <a:lstStyle/>
          <a:p>
            <a:pPr marL="0" indent="0">
              <a:buNone/>
            </a:pPr>
            <a:r>
              <a:rPr lang="en-US" sz="1400" b="1" dirty="0">
                <a:solidFill>
                  <a:srgbClr val="232F3E"/>
                </a:solidFill>
                <a:latin typeface="Arial" pitchFamily="34" charset="0"/>
                <a:ea typeface="Arial" pitchFamily="34" charset="-122"/>
                <a:cs typeface="Arial" pitchFamily="34" charset="-120"/>
              </a:rPr>
              <a:t>Background &amp; Strategic Context</a:t>
            </a:r>
            <a:endParaRPr lang="en-US" sz="1400" dirty="0"/>
          </a:p>
          <a:p>
            <a:pPr marL="0" indent="0">
              <a:buNone/>
            </a:pPr>
            <a:r>
              <a:rPr lang="en-US" sz="1050" dirty="0">
                <a:solidFill>
                  <a:srgbClr val="5A6470"/>
                </a:solidFill>
                <a:latin typeface="Arial" pitchFamily="34" charset="0"/>
                <a:ea typeface="Arial" pitchFamily="34" charset="-122"/>
                <a:cs typeface="Arial" pitchFamily="34" charset="-120"/>
              </a:rPr>
              <a:t>Amazon’s last-mile challenge and the competitive landscape</a:t>
            </a:r>
            <a:endParaRPr lang="en-US" sz="1400" dirty="0"/>
          </a:p>
        </p:txBody>
      </p:sp>
      <p:sp>
        <p:nvSpPr>
          <p:cNvPr id="8" name="Shape 6"/>
          <p:cNvSpPr/>
          <p:nvPr/>
        </p:nvSpPr>
        <p:spPr>
          <a:xfrm>
            <a:off x="6126480" y="173736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9" name="Shape 7"/>
          <p:cNvSpPr/>
          <p:nvPr/>
        </p:nvSpPr>
        <p:spPr>
          <a:xfrm>
            <a:off x="6291072" y="1856232"/>
            <a:ext cx="475488" cy="475488"/>
          </a:xfrm>
          <a:prstGeom prst="ellipse">
            <a:avLst/>
          </a:prstGeom>
          <a:solidFill>
            <a:srgbClr val="FF9900"/>
          </a:solidFill>
          <a:ln/>
        </p:spPr>
        <p:txBody>
          <a:bodyPr/>
          <a:lstStyle/>
          <a:p>
            <a:endParaRPr lang="en-US"/>
          </a:p>
        </p:txBody>
      </p:sp>
      <p:sp>
        <p:nvSpPr>
          <p:cNvPr id="10" name="Text 8"/>
          <p:cNvSpPr/>
          <p:nvPr/>
        </p:nvSpPr>
        <p:spPr>
          <a:xfrm>
            <a:off x="6291072" y="1856232"/>
            <a:ext cx="475488" cy="475488"/>
          </a:xfrm>
          <a:prstGeom prst="rect">
            <a:avLst/>
          </a:prstGeom>
          <a:noFill/>
          <a:ln/>
        </p:spPr>
        <p:txBody>
          <a:bodyPr wrap="square" lIns="0" tIns="0" rIns="0" bIns="0"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02</a:t>
            </a:r>
            <a:endParaRPr lang="en-US" sz="1600" dirty="0"/>
          </a:p>
        </p:txBody>
      </p:sp>
      <p:sp>
        <p:nvSpPr>
          <p:cNvPr id="11" name="Text 9"/>
          <p:cNvSpPr/>
          <p:nvPr/>
        </p:nvSpPr>
        <p:spPr>
          <a:xfrm>
            <a:off x="6903720" y="1810512"/>
            <a:ext cx="4526280" cy="566928"/>
          </a:xfrm>
          <a:prstGeom prst="rect">
            <a:avLst/>
          </a:prstGeom>
          <a:noFill/>
          <a:ln/>
        </p:spPr>
        <p:txBody>
          <a:bodyPr wrap="square" lIns="0" tIns="0" rIns="0" bIns="0" rtlCol="0" anchor="ctr"/>
          <a:lstStyle/>
          <a:p>
            <a:pPr marL="0" indent="0">
              <a:buNone/>
            </a:pPr>
            <a:r>
              <a:rPr lang="en-US" sz="1400" b="1" dirty="0">
                <a:solidFill>
                  <a:srgbClr val="232F3E"/>
                </a:solidFill>
                <a:latin typeface="Arial" pitchFamily="34" charset="0"/>
                <a:ea typeface="Arial" pitchFamily="34" charset="-122"/>
                <a:cs typeface="Arial" pitchFamily="34" charset="-120"/>
              </a:rPr>
              <a:t>Risk Identification</a:t>
            </a:r>
            <a:endParaRPr lang="en-US" sz="1400" dirty="0"/>
          </a:p>
          <a:p>
            <a:pPr marL="0" indent="0">
              <a:buNone/>
            </a:pPr>
            <a:r>
              <a:rPr lang="en-US" sz="1050" dirty="0">
                <a:solidFill>
                  <a:srgbClr val="5A6470"/>
                </a:solidFill>
                <a:latin typeface="Arial" pitchFamily="34" charset="0"/>
                <a:ea typeface="Arial" pitchFamily="34" charset="-122"/>
                <a:cs typeface="Arial" pitchFamily="34" charset="-120"/>
              </a:rPr>
              <a:t>A 32-risk register and three priority risks carried to analysis</a:t>
            </a:r>
            <a:endParaRPr lang="en-US" sz="1400" dirty="0"/>
          </a:p>
        </p:txBody>
      </p:sp>
      <p:sp>
        <p:nvSpPr>
          <p:cNvPr id="12" name="Shape 10"/>
          <p:cNvSpPr/>
          <p:nvPr/>
        </p:nvSpPr>
        <p:spPr>
          <a:xfrm>
            <a:off x="548640" y="256032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3" name="Shape 11"/>
          <p:cNvSpPr/>
          <p:nvPr/>
        </p:nvSpPr>
        <p:spPr>
          <a:xfrm>
            <a:off x="713232" y="2679192"/>
            <a:ext cx="475488" cy="475488"/>
          </a:xfrm>
          <a:prstGeom prst="ellipse">
            <a:avLst/>
          </a:prstGeom>
          <a:solidFill>
            <a:srgbClr val="FF9900"/>
          </a:solidFill>
          <a:ln/>
        </p:spPr>
        <p:txBody>
          <a:bodyPr/>
          <a:lstStyle/>
          <a:p>
            <a:endParaRPr lang="en-US"/>
          </a:p>
        </p:txBody>
      </p:sp>
      <p:sp>
        <p:nvSpPr>
          <p:cNvPr id="14" name="Text 12"/>
          <p:cNvSpPr/>
          <p:nvPr/>
        </p:nvSpPr>
        <p:spPr>
          <a:xfrm>
            <a:off x="713232" y="2679192"/>
            <a:ext cx="475488" cy="475488"/>
          </a:xfrm>
          <a:prstGeom prst="rect">
            <a:avLst/>
          </a:prstGeom>
          <a:noFill/>
          <a:ln/>
        </p:spPr>
        <p:txBody>
          <a:bodyPr wrap="square" lIns="0" tIns="0" rIns="0" bIns="0"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03</a:t>
            </a:r>
            <a:endParaRPr lang="en-US" sz="1600" dirty="0"/>
          </a:p>
        </p:txBody>
      </p:sp>
      <p:sp>
        <p:nvSpPr>
          <p:cNvPr id="15" name="Text 13"/>
          <p:cNvSpPr/>
          <p:nvPr/>
        </p:nvSpPr>
        <p:spPr>
          <a:xfrm>
            <a:off x="1325880" y="2633472"/>
            <a:ext cx="4526280" cy="566928"/>
          </a:xfrm>
          <a:prstGeom prst="rect">
            <a:avLst/>
          </a:prstGeom>
          <a:noFill/>
          <a:ln/>
        </p:spPr>
        <p:txBody>
          <a:bodyPr wrap="square" lIns="0" tIns="0" rIns="0" bIns="0" rtlCol="0" anchor="ctr"/>
          <a:lstStyle/>
          <a:p>
            <a:pPr marL="0" indent="0">
              <a:buNone/>
            </a:pPr>
            <a:r>
              <a:rPr lang="en-US" sz="1400" b="1" dirty="0">
                <a:solidFill>
                  <a:srgbClr val="232F3E"/>
                </a:solidFill>
                <a:latin typeface="Arial" pitchFamily="34" charset="0"/>
                <a:ea typeface="Arial" pitchFamily="34" charset="-122"/>
                <a:cs typeface="Arial" pitchFamily="34" charset="-120"/>
              </a:rPr>
              <a:t>Qualitative Assessment</a:t>
            </a:r>
            <a:endParaRPr lang="en-US" sz="1400" dirty="0"/>
          </a:p>
          <a:p>
            <a:pPr marL="0" indent="0">
              <a:buNone/>
            </a:pPr>
            <a:r>
              <a:rPr lang="en-US" sz="1050" dirty="0">
                <a:solidFill>
                  <a:srgbClr val="5A6470"/>
                </a:solidFill>
                <a:latin typeface="Arial" pitchFamily="34" charset="0"/>
                <a:ea typeface="Arial" pitchFamily="34" charset="-122"/>
                <a:cs typeface="Arial" pitchFamily="34" charset="-120"/>
              </a:rPr>
              <a:t>Scenario Analytics and Industry Fusion Analytics</a:t>
            </a:r>
            <a:endParaRPr lang="en-US" sz="1400" dirty="0"/>
          </a:p>
        </p:txBody>
      </p:sp>
      <p:sp>
        <p:nvSpPr>
          <p:cNvPr id="16" name="Shape 14"/>
          <p:cNvSpPr/>
          <p:nvPr/>
        </p:nvSpPr>
        <p:spPr>
          <a:xfrm>
            <a:off x="6126480" y="256032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7" name="Shape 15"/>
          <p:cNvSpPr/>
          <p:nvPr/>
        </p:nvSpPr>
        <p:spPr>
          <a:xfrm>
            <a:off x="6291072" y="2679192"/>
            <a:ext cx="475488" cy="475488"/>
          </a:xfrm>
          <a:prstGeom prst="ellipse">
            <a:avLst/>
          </a:prstGeom>
          <a:solidFill>
            <a:srgbClr val="FF9900"/>
          </a:solidFill>
          <a:ln/>
        </p:spPr>
        <p:txBody>
          <a:bodyPr/>
          <a:lstStyle/>
          <a:p>
            <a:endParaRPr lang="en-US"/>
          </a:p>
        </p:txBody>
      </p:sp>
      <p:sp>
        <p:nvSpPr>
          <p:cNvPr id="18" name="Text 16"/>
          <p:cNvSpPr/>
          <p:nvPr/>
        </p:nvSpPr>
        <p:spPr>
          <a:xfrm>
            <a:off x="6291072" y="2679192"/>
            <a:ext cx="475488" cy="475488"/>
          </a:xfrm>
          <a:prstGeom prst="rect">
            <a:avLst/>
          </a:prstGeom>
          <a:noFill/>
          <a:ln/>
        </p:spPr>
        <p:txBody>
          <a:bodyPr wrap="square" lIns="0" tIns="0" rIns="0" bIns="0"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04</a:t>
            </a:r>
            <a:endParaRPr lang="en-US" sz="1600" dirty="0"/>
          </a:p>
        </p:txBody>
      </p:sp>
      <p:sp>
        <p:nvSpPr>
          <p:cNvPr id="19" name="Text 17"/>
          <p:cNvSpPr/>
          <p:nvPr/>
        </p:nvSpPr>
        <p:spPr>
          <a:xfrm>
            <a:off x="6903720" y="2633472"/>
            <a:ext cx="4526280" cy="566928"/>
          </a:xfrm>
          <a:prstGeom prst="rect">
            <a:avLst/>
          </a:prstGeom>
          <a:noFill/>
          <a:ln/>
        </p:spPr>
        <p:txBody>
          <a:bodyPr wrap="square" lIns="0" tIns="0" rIns="0" bIns="0" rtlCol="0" anchor="ctr"/>
          <a:lstStyle/>
          <a:p>
            <a:pPr marL="0" indent="0">
              <a:buNone/>
            </a:pPr>
            <a:r>
              <a:rPr lang="en-US" sz="1400" b="1" dirty="0">
                <a:solidFill>
                  <a:srgbClr val="232F3E"/>
                </a:solidFill>
                <a:latin typeface="Arial" pitchFamily="34" charset="0"/>
                <a:ea typeface="Arial" pitchFamily="34" charset="-122"/>
                <a:cs typeface="Arial" pitchFamily="34" charset="-120"/>
              </a:rPr>
              <a:t>Quantitative Assessment</a:t>
            </a:r>
            <a:endParaRPr lang="en-US" sz="1400" dirty="0"/>
          </a:p>
          <a:p>
            <a:pPr marL="0" indent="0">
              <a:buNone/>
            </a:pPr>
            <a:r>
              <a:rPr lang="en-US" sz="1050" dirty="0">
                <a:solidFill>
                  <a:srgbClr val="5A6470"/>
                </a:solidFill>
                <a:latin typeface="Arial" pitchFamily="34" charset="0"/>
                <a:ea typeface="Arial" pitchFamily="34" charset="-122"/>
                <a:cs typeface="Arial" pitchFamily="34" charset="-120"/>
              </a:rPr>
              <a:t>I&amp;W analysis, Monte Carlo simulation, ML prediction</a:t>
            </a:r>
            <a:endParaRPr lang="en-US" sz="1400" dirty="0"/>
          </a:p>
        </p:txBody>
      </p:sp>
      <p:sp>
        <p:nvSpPr>
          <p:cNvPr id="20" name="Shape 18"/>
          <p:cNvSpPr/>
          <p:nvPr/>
        </p:nvSpPr>
        <p:spPr>
          <a:xfrm>
            <a:off x="548640" y="338328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1" name="Shape 19"/>
          <p:cNvSpPr/>
          <p:nvPr/>
        </p:nvSpPr>
        <p:spPr>
          <a:xfrm>
            <a:off x="713232" y="3502152"/>
            <a:ext cx="475488" cy="475488"/>
          </a:xfrm>
          <a:prstGeom prst="ellipse">
            <a:avLst/>
          </a:prstGeom>
          <a:solidFill>
            <a:srgbClr val="FF9900"/>
          </a:solidFill>
          <a:ln/>
        </p:spPr>
        <p:txBody>
          <a:bodyPr/>
          <a:lstStyle/>
          <a:p>
            <a:endParaRPr lang="en-US"/>
          </a:p>
        </p:txBody>
      </p:sp>
      <p:sp>
        <p:nvSpPr>
          <p:cNvPr id="22" name="Text 20"/>
          <p:cNvSpPr/>
          <p:nvPr/>
        </p:nvSpPr>
        <p:spPr>
          <a:xfrm>
            <a:off x="713232" y="3502152"/>
            <a:ext cx="475488" cy="475488"/>
          </a:xfrm>
          <a:prstGeom prst="rect">
            <a:avLst/>
          </a:prstGeom>
          <a:noFill/>
          <a:ln/>
        </p:spPr>
        <p:txBody>
          <a:bodyPr wrap="square" lIns="0" tIns="0" rIns="0" bIns="0"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05</a:t>
            </a:r>
            <a:endParaRPr lang="en-US" sz="1600" dirty="0"/>
          </a:p>
        </p:txBody>
      </p:sp>
      <p:sp>
        <p:nvSpPr>
          <p:cNvPr id="23" name="Text 21"/>
          <p:cNvSpPr/>
          <p:nvPr/>
        </p:nvSpPr>
        <p:spPr>
          <a:xfrm>
            <a:off x="1325880" y="3456432"/>
            <a:ext cx="4526280" cy="566928"/>
          </a:xfrm>
          <a:prstGeom prst="rect">
            <a:avLst/>
          </a:prstGeom>
          <a:noFill/>
          <a:ln/>
        </p:spPr>
        <p:txBody>
          <a:bodyPr wrap="square" lIns="0" tIns="0" rIns="0" bIns="0" rtlCol="0" anchor="ctr"/>
          <a:lstStyle/>
          <a:p>
            <a:pPr marL="0" indent="0">
              <a:buNone/>
            </a:pPr>
            <a:r>
              <a:rPr lang="en-US" sz="1400" b="1" dirty="0">
                <a:solidFill>
                  <a:srgbClr val="232F3E"/>
                </a:solidFill>
                <a:latin typeface="Arial" pitchFamily="34" charset="0"/>
                <a:ea typeface="Arial" pitchFamily="34" charset="-122"/>
                <a:cs typeface="Arial" pitchFamily="34" charset="-120"/>
              </a:rPr>
              <a:t>Risk Response &amp; KRIs</a:t>
            </a:r>
            <a:endParaRPr lang="en-US" sz="1400" dirty="0"/>
          </a:p>
          <a:p>
            <a:pPr marL="0" indent="0">
              <a:buNone/>
            </a:pPr>
            <a:r>
              <a:rPr lang="en-US" sz="1050" dirty="0">
                <a:solidFill>
                  <a:srgbClr val="5A6470"/>
                </a:solidFill>
                <a:latin typeface="Arial" pitchFamily="34" charset="0"/>
                <a:ea typeface="Arial" pitchFamily="34" charset="-122"/>
                <a:cs typeface="Arial" pitchFamily="34" charset="-120"/>
              </a:rPr>
              <a:t>Treatment strategies, trigger points, monitoring</a:t>
            </a:r>
            <a:endParaRPr lang="en-US" sz="1400" dirty="0"/>
          </a:p>
        </p:txBody>
      </p:sp>
      <p:sp>
        <p:nvSpPr>
          <p:cNvPr id="24" name="Shape 22"/>
          <p:cNvSpPr/>
          <p:nvPr/>
        </p:nvSpPr>
        <p:spPr>
          <a:xfrm>
            <a:off x="6126480" y="338328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5" name="Shape 23"/>
          <p:cNvSpPr/>
          <p:nvPr/>
        </p:nvSpPr>
        <p:spPr>
          <a:xfrm>
            <a:off x="6291072" y="3502152"/>
            <a:ext cx="475488" cy="475488"/>
          </a:xfrm>
          <a:prstGeom prst="ellipse">
            <a:avLst/>
          </a:prstGeom>
          <a:solidFill>
            <a:srgbClr val="FF9900"/>
          </a:solidFill>
          <a:ln/>
        </p:spPr>
        <p:txBody>
          <a:bodyPr/>
          <a:lstStyle/>
          <a:p>
            <a:endParaRPr lang="en-US"/>
          </a:p>
        </p:txBody>
      </p:sp>
      <p:sp>
        <p:nvSpPr>
          <p:cNvPr id="26" name="Text 24"/>
          <p:cNvSpPr/>
          <p:nvPr/>
        </p:nvSpPr>
        <p:spPr>
          <a:xfrm>
            <a:off x="6291072" y="3502152"/>
            <a:ext cx="475488" cy="475488"/>
          </a:xfrm>
          <a:prstGeom prst="rect">
            <a:avLst/>
          </a:prstGeom>
          <a:noFill/>
          <a:ln/>
        </p:spPr>
        <p:txBody>
          <a:bodyPr wrap="square" lIns="0" tIns="0" rIns="0" bIns="0" rtlCol="0" anchor="ctr"/>
          <a:lstStyle/>
          <a:p>
            <a:pPr marL="0" indent="0" algn="ctr">
              <a:buNone/>
            </a:pPr>
            <a:r>
              <a:rPr lang="en-US" sz="1600" b="1" dirty="0">
                <a:solidFill>
                  <a:srgbClr val="232F3E"/>
                </a:solidFill>
                <a:latin typeface="Arial" pitchFamily="34" charset="0"/>
                <a:ea typeface="Arial" pitchFamily="34" charset="-122"/>
                <a:cs typeface="Arial" pitchFamily="34" charset="-120"/>
              </a:rPr>
              <a:t>06</a:t>
            </a:r>
            <a:endParaRPr lang="en-US" sz="1600" dirty="0"/>
          </a:p>
        </p:txBody>
      </p:sp>
      <p:sp>
        <p:nvSpPr>
          <p:cNvPr id="27" name="Text 25"/>
          <p:cNvSpPr/>
          <p:nvPr/>
        </p:nvSpPr>
        <p:spPr>
          <a:xfrm>
            <a:off x="6903720" y="3456432"/>
            <a:ext cx="4526280" cy="566928"/>
          </a:xfrm>
          <a:prstGeom prst="rect">
            <a:avLst/>
          </a:prstGeom>
          <a:noFill/>
          <a:ln/>
        </p:spPr>
        <p:txBody>
          <a:bodyPr wrap="square" lIns="0" tIns="0" rIns="0" bIns="0" rtlCol="0" anchor="ctr"/>
          <a:lstStyle/>
          <a:p>
            <a:pPr marL="0" indent="0">
              <a:buNone/>
            </a:pPr>
            <a:r>
              <a:rPr lang="en-US" sz="1400" b="1" dirty="0">
                <a:solidFill>
                  <a:srgbClr val="232F3E"/>
                </a:solidFill>
                <a:latin typeface="Arial" pitchFamily="34" charset="0"/>
                <a:ea typeface="Arial" pitchFamily="34" charset="-122"/>
                <a:cs typeface="Arial" pitchFamily="34" charset="-120"/>
              </a:rPr>
              <a:t>Conclusion &amp; Recommendations</a:t>
            </a:r>
            <a:endParaRPr lang="en-US" sz="1400" dirty="0"/>
          </a:p>
          <a:p>
            <a:pPr marL="0" indent="0">
              <a:buNone/>
            </a:pPr>
            <a:r>
              <a:rPr lang="en-US" sz="1050" dirty="0">
                <a:solidFill>
                  <a:srgbClr val="5A6470"/>
                </a:solidFill>
                <a:latin typeface="Arial" pitchFamily="34" charset="0"/>
                <a:ea typeface="Arial" pitchFamily="34" charset="-122"/>
                <a:cs typeface="Arial" pitchFamily="34" charset="-120"/>
              </a:rPr>
              <a:t>Net portfolio value and non-negotiable conditions</a:t>
            </a:r>
            <a:endParaRPr lang="en-US" sz="1400" dirty="0"/>
          </a:p>
        </p:txBody>
      </p:sp>
      <p:sp>
        <p:nvSpPr>
          <p:cNvPr id="28" name="Text 26"/>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01 - BACKGROUND &amp; STRATEGIC CONTEXT</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The Business Case for AI in the Last Mile</a:t>
            </a:r>
            <a:endParaRPr lang="en-US" sz="2600" dirty="0"/>
          </a:p>
        </p:txBody>
      </p:sp>
      <p:sp>
        <p:nvSpPr>
          <p:cNvPr id="4" name="Shape 2"/>
          <p:cNvSpPr/>
          <p:nvPr/>
        </p:nvSpPr>
        <p:spPr>
          <a:xfrm>
            <a:off x="548640" y="1691640"/>
            <a:ext cx="2594610" cy="1417320"/>
          </a:xfrm>
          <a:prstGeom prst="roundRect">
            <a:avLst>
              <a:gd name="adj" fmla="val 5161"/>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5" name="Text 3"/>
          <p:cNvSpPr/>
          <p:nvPr/>
        </p:nvSpPr>
        <p:spPr>
          <a:xfrm>
            <a:off x="548640" y="1856232"/>
            <a:ext cx="2594610" cy="548640"/>
          </a:xfrm>
          <a:prstGeom prst="rect">
            <a:avLst/>
          </a:prstGeom>
          <a:noFill/>
          <a:ln/>
        </p:spPr>
        <p:txBody>
          <a:bodyPr wrap="square" lIns="0" tIns="0" rIns="0" bIns="0" rtlCol="0" anchor="ctr"/>
          <a:lstStyle/>
          <a:p>
            <a:pPr marL="0" indent="0" algn="ctr">
              <a:buNone/>
            </a:pPr>
            <a:r>
              <a:rPr lang="en-US" sz="3000" b="1" dirty="0">
                <a:solidFill>
                  <a:srgbClr val="FF9900"/>
                </a:solidFill>
                <a:latin typeface="Arial" pitchFamily="34" charset="0"/>
                <a:ea typeface="Arial" pitchFamily="34" charset="-122"/>
                <a:cs typeface="Arial" pitchFamily="34" charset="-120"/>
              </a:rPr>
              <a:t>8M+</a:t>
            </a:r>
            <a:endParaRPr lang="en-US" sz="3000" dirty="0"/>
          </a:p>
        </p:txBody>
      </p:sp>
      <p:sp>
        <p:nvSpPr>
          <p:cNvPr id="6" name="Text 4"/>
          <p:cNvSpPr/>
          <p:nvPr/>
        </p:nvSpPr>
        <p:spPr>
          <a:xfrm>
            <a:off x="640080" y="2441448"/>
            <a:ext cx="2411730" cy="548640"/>
          </a:xfrm>
          <a:prstGeom prst="rect">
            <a:avLst/>
          </a:prstGeom>
          <a:noFill/>
          <a:ln/>
        </p:spPr>
        <p:txBody>
          <a:bodyPr wrap="square" lIns="0" tIns="0" rIns="0" bIns="0" rtlCol="0" anchor="ctr"/>
          <a:lstStyle/>
          <a:p>
            <a:pPr marL="0" indent="0" algn="ctr">
              <a:buNone/>
            </a:pPr>
            <a:r>
              <a:rPr lang="en-US" sz="1200" b="1" dirty="0">
                <a:solidFill>
                  <a:srgbClr val="232F3E"/>
                </a:solidFill>
                <a:latin typeface="Arial" pitchFamily="34" charset="0"/>
                <a:ea typeface="Arial" pitchFamily="34" charset="-122"/>
                <a:cs typeface="Arial" pitchFamily="34" charset="-120"/>
              </a:rPr>
              <a:t>packages / day</a:t>
            </a:r>
            <a:endParaRPr lang="en-US" sz="1200" dirty="0"/>
          </a:p>
          <a:p>
            <a:pPr marL="0" indent="0" algn="ctr">
              <a:buNone/>
            </a:pPr>
            <a:r>
              <a:rPr lang="en-US" sz="950" dirty="0">
                <a:solidFill>
                  <a:srgbClr val="5A6470"/>
                </a:solidFill>
                <a:latin typeface="Arial" pitchFamily="34" charset="0"/>
                <a:ea typeface="Arial" pitchFamily="34" charset="-122"/>
                <a:cs typeface="Arial" pitchFamily="34" charset="-120"/>
              </a:rPr>
              <a:t>at $14–$17 each</a:t>
            </a:r>
            <a:endParaRPr lang="en-US" sz="1200" dirty="0"/>
          </a:p>
        </p:txBody>
      </p:sp>
      <p:sp>
        <p:nvSpPr>
          <p:cNvPr id="7" name="Shape 5"/>
          <p:cNvSpPr/>
          <p:nvPr/>
        </p:nvSpPr>
        <p:spPr>
          <a:xfrm>
            <a:off x="3371850" y="1691640"/>
            <a:ext cx="2594610" cy="1417320"/>
          </a:xfrm>
          <a:prstGeom prst="roundRect">
            <a:avLst>
              <a:gd name="adj" fmla="val 5161"/>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8" name="Text 6"/>
          <p:cNvSpPr/>
          <p:nvPr/>
        </p:nvSpPr>
        <p:spPr>
          <a:xfrm>
            <a:off x="3371850" y="1856232"/>
            <a:ext cx="2594610" cy="548640"/>
          </a:xfrm>
          <a:prstGeom prst="rect">
            <a:avLst/>
          </a:prstGeom>
          <a:noFill/>
          <a:ln/>
        </p:spPr>
        <p:txBody>
          <a:bodyPr wrap="square" lIns="0" tIns="0" rIns="0" bIns="0" rtlCol="0" anchor="ctr"/>
          <a:lstStyle/>
          <a:p>
            <a:pPr marL="0" indent="0" algn="ctr">
              <a:buNone/>
            </a:pPr>
            <a:r>
              <a:rPr lang="en-US" sz="3000" b="1" dirty="0">
                <a:solidFill>
                  <a:srgbClr val="FF9900"/>
                </a:solidFill>
                <a:latin typeface="Arial" pitchFamily="34" charset="0"/>
                <a:ea typeface="Arial" pitchFamily="34" charset="-122"/>
                <a:cs typeface="Arial" pitchFamily="34" charset="-120"/>
              </a:rPr>
              <a:t>50–60%</a:t>
            </a:r>
            <a:endParaRPr lang="en-US" sz="3000" dirty="0"/>
          </a:p>
        </p:txBody>
      </p:sp>
      <p:sp>
        <p:nvSpPr>
          <p:cNvPr id="9" name="Text 7"/>
          <p:cNvSpPr/>
          <p:nvPr/>
        </p:nvSpPr>
        <p:spPr>
          <a:xfrm>
            <a:off x="3463290" y="2441448"/>
            <a:ext cx="2411730" cy="548640"/>
          </a:xfrm>
          <a:prstGeom prst="rect">
            <a:avLst/>
          </a:prstGeom>
          <a:noFill/>
          <a:ln/>
        </p:spPr>
        <p:txBody>
          <a:bodyPr wrap="square" lIns="0" tIns="0" rIns="0" bIns="0" rtlCol="0" anchor="ctr"/>
          <a:lstStyle/>
          <a:p>
            <a:pPr marL="0" indent="0" algn="ctr">
              <a:buNone/>
            </a:pPr>
            <a:r>
              <a:rPr lang="en-US" sz="1200" b="1" dirty="0">
                <a:solidFill>
                  <a:srgbClr val="232F3E"/>
                </a:solidFill>
                <a:latin typeface="Arial" pitchFamily="34" charset="0"/>
                <a:ea typeface="Arial" pitchFamily="34" charset="-122"/>
                <a:cs typeface="Arial" pitchFamily="34" charset="-120"/>
              </a:rPr>
              <a:t>of parcel cost</a:t>
            </a:r>
            <a:endParaRPr lang="en-US" sz="1200" dirty="0"/>
          </a:p>
          <a:p>
            <a:pPr marL="0" indent="0" algn="ctr">
              <a:buNone/>
            </a:pPr>
            <a:r>
              <a:rPr lang="en-US" sz="950" dirty="0">
                <a:solidFill>
                  <a:srgbClr val="5A6470"/>
                </a:solidFill>
                <a:latin typeface="Arial" pitchFamily="34" charset="0"/>
                <a:ea typeface="Arial" pitchFamily="34" charset="-122"/>
                <a:cs typeface="Arial" pitchFamily="34" charset="-120"/>
              </a:rPr>
              <a:t>is the last mile (BCG, 2026)</a:t>
            </a:r>
            <a:endParaRPr lang="en-US" sz="1200" dirty="0"/>
          </a:p>
        </p:txBody>
      </p:sp>
      <p:sp>
        <p:nvSpPr>
          <p:cNvPr id="10" name="Shape 8"/>
          <p:cNvSpPr/>
          <p:nvPr/>
        </p:nvSpPr>
        <p:spPr>
          <a:xfrm>
            <a:off x="6195060" y="1691640"/>
            <a:ext cx="2594610" cy="1417320"/>
          </a:xfrm>
          <a:prstGeom prst="roundRect">
            <a:avLst>
              <a:gd name="adj" fmla="val 5161"/>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1" name="Text 9"/>
          <p:cNvSpPr/>
          <p:nvPr/>
        </p:nvSpPr>
        <p:spPr>
          <a:xfrm>
            <a:off x="6195060" y="1856232"/>
            <a:ext cx="2594610" cy="548640"/>
          </a:xfrm>
          <a:prstGeom prst="rect">
            <a:avLst/>
          </a:prstGeom>
          <a:noFill/>
          <a:ln/>
        </p:spPr>
        <p:txBody>
          <a:bodyPr wrap="square" lIns="0" tIns="0" rIns="0" bIns="0" rtlCol="0" anchor="ctr"/>
          <a:lstStyle/>
          <a:p>
            <a:pPr marL="0" indent="0" algn="ctr">
              <a:buNone/>
            </a:pPr>
            <a:r>
              <a:rPr lang="en-US" sz="3000" b="1" dirty="0">
                <a:solidFill>
                  <a:srgbClr val="FF9900"/>
                </a:solidFill>
                <a:latin typeface="Arial" pitchFamily="34" charset="0"/>
                <a:ea typeface="Arial" pitchFamily="34" charset="-122"/>
                <a:cs typeface="Arial" pitchFamily="34" charset="-120"/>
              </a:rPr>
              <a:t>10–25%</a:t>
            </a:r>
            <a:endParaRPr lang="en-US" sz="3000" dirty="0"/>
          </a:p>
        </p:txBody>
      </p:sp>
      <p:sp>
        <p:nvSpPr>
          <p:cNvPr id="12" name="Text 10"/>
          <p:cNvSpPr/>
          <p:nvPr/>
        </p:nvSpPr>
        <p:spPr>
          <a:xfrm>
            <a:off x="6286500" y="2441448"/>
            <a:ext cx="2411730" cy="548640"/>
          </a:xfrm>
          <a:prstGeom prst="rect">
            <a:avLst/>
          </a:prstGeom>
          <a:noFill/>
          <a:ln/>
        </p:spPr>
        <p:txBody>
          <a:bodyPr wrap="square" lIns="0" tIns="0" rIns="0" bIns="0" rtlCol="0" anchor="ctr"/>
          <a:lstStyle/>
          <a:p>
            <a:pPr marL="0" indent="0" algn="ctr">
              <a:buNone/>
            </a:pPr>
            <a:r>
              <a:rPr lang="en-US" sz="1200" b="1" dirty="0">
                <a:solidFill>
                  <a:srgbClr val="232F3E"/>
                </a:solidFill>
                <a:latin typeface="Arial" pitchFamily="34" charset="0"/>
                <a:ea typeface="Arial" pitchFamily="34" charset="-122"/>
                <a:cs typeface="Arial" pitchFamily="34" charset="-120"/>
              </a:rPr>
              <a:t>cost reduction</a:t>
            </a:r>
            <a:endParaRPr lang="en-US" sz="1200" dirty="0"/>
          </a:p>
          <a:p>
            <a:pPr marL="0" indent="0" algn="ctr">
              <a:buNone/>
            </a:pPr>
            <a:r>
              <a:rPr lang="en-US" sz="950" dirty="0">
                <a:solidFill>
                  <a:srgbClr val="5A6470"/>
                </a:solidFill>
                <a:latin typeface="Arial" pitchFamily="34" charset="0"/>
                <a:ea typeface="Arial" pitchFamily="34" charset="-122"/>
                <a:cs typeface="Arial" pitchFamily="34" charset="-120"/>
              </a:rPr>
              <a:t>achievable via AI routing</a:t>
            </a:r>
            <a:endParaRPr lang="en-US" sz="1200" dirty="0"/>
          </a:p>
        </p:txBody>
      </p:sp>
      <p:sp>
        <p:nvSpPr>
          <p:cNvPr id="13" name="Shape 11"/>
          <p:cNvSpPr/>
          <p:nvPr/>
        </p:nvSpPr>
        <p:spPr>
          <a:xfrm>
            <a:off x="9018270" y="1691640"/>
            <a:ext cx="2594610" cy="1417320"/>
          </a:xfrm>
          <a:prstGeom prst="roundRect">
            <a:avLst>
              <a:gd name="adj" fmla="val 5161"/>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4" name="Text 12"/>
          <p:cNvSpPr/>
          <p:nvPr/>
        </p:nvSpPr>
        <p:spPr>
          <a:xfrm>
            <a:off x="9018270" y="1856232"/>
            <a:ext cx="2594610" cy="548640"/>
          </a:xfrm>
          <a:prstGeom prst="rect">
            <a:avLst/>
          </a:prstGeom>
          <a:noFill/>
          <a:ln/>
        </p:spPr>
        <p:txBody>
          <a:bodyPr wrap="square" lIns="0" tIns="0" rIns="0" bIns="0" rtlCol="0" anchor="ctr"/>
          <a:lstStyle/>
          <a:p>
            <a:pPr marL="0" indent="0" algn="ctr">
              <a:buNone/>
            </a:pPr>
            <a:r>
              <a:rPr lang="en-US" sz="3000" b="1" dirty="0">
                <a:solidFill>
                  <a:srgbClr val="FF9900"/>
                </a:solidFill>
                <a:latin typeface="Arial" pitchFamily="34" charset="0"/>
                <a:ea typeface="Arial" pitchFamily="34" charset="-122"/>
                <a:cs typeface="Arial" pitchFamily="34" charset="-120"/>
              </a:rPr>
              <a:t>$50.2B</a:t>
            </a:r>
            <a:endParaRPr lang="en-US" sz="3000" dirty="0"/>
          </a:p>
        </p:txBody>
      </p:sp>
      <p:sp>
        <p:nvSpPr>
          <p:cNvPr id="15" name="Text 13"/>
          <p:cNvSpPr/>
          <p:nvPr/>
        </p:nvSpPr>
        <p:spPr>
          <a:xfrm>
            <a:off x="9109710" y="2441448"/>
            <a:ext cx="2411730" cy="548640"/>
          </a:xfrm>
          <a:prstGeom prst="rect">
            <a:avLst/>
          </a:prstGeom>
          <a:noFill/>
          <a:ln/>
        </p:spPr>
        <p:txBody>
          <a:bodyPr wrap="square" lIns="0" tIns="0" rIns="0" bIns="0" rtlCol="0" anchor="ctr"/>
          <a:lstStyle/>
          <a:p>
            <a:pPr marL="0" indent="0" algn="ctr">
              <a:buNone/>
            </a:pPr>
            <a:r>
              <a:rPr lang="en-US" sz="1200" b="1" dirty="0">
                <a:solidFill>
                  <a:srgbClr val="232F3E"/>
                </a:solidFill>
                <a:latin typeface="Arial" pitchFamily="34" charset="0"/>
                <a:ea typeface="Arial" pitchFamily="34" charset="-122"/>
                <a:cs typeface="Arial" pitchFamily="34" charset="-120"/>
              </a:rPr>
              <a:t>EU AI Act exposure</a:t>
            </a:r>
            <a:endParaRPr lang="en-US" sz="1200" dirty="0"/>
          </a:p>
          <a:p>
            <a:pPr marL="0" indent="0" algn="ctr">
              <a:buNone/>
            </a:pPr>
            <a:r>
              <a:rPr lang="en-US" sz="950" dirty="0">
                <a:solidFill>
                  <a:srgbClr val="5A6470"/>
                </a:solidFill>
                <a:latin typeface="Arial" pitchFamily="34" charset="0"/>
                <a:ea typeface="Arial" pitchFamily="34" charset="-122"/>
                <a:cs typeface="Arial" pitchFamily="34" charset="-120"/>
              </a:rPr>
              <a:t>7% of $716.9B FY2025 revenue</a:t>
            </a:r>
            <a:endParaRPr lang="en-US" sz="1200" dirty="0"/>
          </a:p>
        </p:txBody>
      </p:sp>
      <p:sp>
        <p:nvSpPr>
          <p:cNvPr id="16" name="Text 14"/>
          <p:cNvSpPr/>
          <p:nvPr/>
        </p:nvSpPr>
        <p:spPr>
          <a:xfrm>
            <a:off x="548640" y="3337560"/>
            <a:ext cx="10972800" cy="365760"/>
          </a:xfrm>
          <a:prstGeom prst="rect">
            <a:avLst/>
          </a:prstGeom>
          <a:noFill/>
          <a:ln/>
        </p:spPr>
        <p:txBody>
          <a:bodyPr wrap="square" lIns="0" tIns="0" rIns="0" bIns="0" rtlCol="0" anchor="ctr"/>
          <a:lstStyle/>
          <a:p>
            <a:pPr marL="0" indent="0">
              <a:buNone/>
            </a:pPr>
            <a:r>
              <a:rPr lang="en-US" sz="1500" b="1" dirty="0">
                <a:solidFill>
                  <a:srgbClr val="232F3E"/>
                </a:solidFill>
                <a:latin typeface="Arial" pitchFamily="34" charset="0"/>
                <a:ea typeface="Arial" pitchFamily="34" charset="-122"/>
                <a:cs typeface="Arial" pitchFamily="34" charset="-120"/>
              </a:rPr>
              <a:t>Competitive urgency - the benchmark Amazon must surpass</a:t>
            </a:r>
            <a:endParaRPr lang="en-US" sz="1500" dirty="0"/>
          </a:p>
        </p:txBody>
      </p:sp>
      <p:sp>
        <p:nvSpPr>
          <p:cNvPr id="17" name="Shape 15"/>
          <p:cNvSpPr/>
          <p:nvPr/>
        </p:nvSpPr>
        <p:spPr>
          <a:xfrm>
            <a:off x="548640" y="379476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8" name="Shape 16"/>
          <p:cNvSpPr/>
          <p:nvPr/>
        </p:nvSpPr>
        <p:spPr>
          <a:xfrm>
            <a:off x="731520" y="4041648"/>
            <a:ext cx="219456" cy="219456"/>
          </a:xfrm>
          <a:prstGeom prst="ellipse">
            <a:avLst/>
          </a:prstGeom>
          <a:solidFill>
            <a:srgbClr val="146EB4"/>
          </a:solidFill>
          <a:ln/>
        </p:spPr>
        <p:txBody>
          <a:bodyPr/>
          <a:lstStyle/>
          <a:p>
            <a:endParaRPr lang="en-US"/>
          </a:p>
        </p:txBody>
      </p:sp>
      <p:sp>
        <p:nvSpPr>
          <p:cNvPr id="19" name="Text 17"/>
          <p:cNvSpPr/>
          <p:nvPr/>
        </p:nvSpPr>
        <p:spPr>
          <a:xfrm>
            <a:off x="1097280" y="3849624"/>
            <a:ext cx="4800600" cy="603504"/>
          </a:xfrm>
          <a:prstGeom prst="rect">
            <a:avLst/>
          </a:prstGeom>
          <a:noFill/>
          <a:ln/>
        </p:spPr>
        <p:txBody>
          <a:bodyPr wrap="square" lIns="0" tIns="0" rIns="0" bIns="0" rtlCol="0" anchor="ctr"/>
          <a:lstStyle/>
          <a:p>
            <a:pPr marL="0" indent="0">
              <a:buNone/>
            </a:pPr>
            <a:r>
              <a:rPr lang="en-US" sz="1200" b="1" dirty="0">
                <a:solidFill>
                  <a:srgbClr val="232F3E"/>
                </a:solidFill>
                <a:latin typeface="Arial" pitchFamily="34" charset="0"/>
                <a:ea typeface="Arial" pitchFamily="34" charset="-122"/>
                <a:cs typeface="Arial" pitchFamily="34" charset="-120"/>
              </a:rPr>
              <a:t>UPS ORION  (since 2012)
</a:t>
            </a:r>
            <a:r>
              <a:rPr lang="en-US" sz="1000" dirty="0">
                <a:solidFill>
                  <a:srgbClr val="5A6470"/>
                </a:solidFill>
                <a:latin typeface="Arial" pitchFamily="34" charset="0"/>
                <a:ea typeface="Arial" pitchFamily="34" charset="-122"/>
                <a:cs typeface="Arial" pitchFamily="34" charset="-120"/>
              </a:rPr>
              <a:t>$300–400M/yr savings · 100M fewer miles/yr · 14 years to build</a:t>
            </a:r>
            <a:endParaRPr lang="en-US" sz="1200" dirty="0"/>
          </a:p>
        </p:txBody>
      </p:sp>
      <p:sp>
        <p:nvSpPr>
          <p:cNvPr id="20" name="Shape 18"/>
          <p:cNvSpPr/>
          <p:nvPr/>
        </p:nvSpPr>
        <p:spPr>
          <a:xfrm>
            <a:off x="6126480" y="3794760"/>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1" name="Shape 19"/>
          <p:cNvSpPr/>
          <p:nvPr/>
        </p:nvSpPr>
        <p:spPr>
          <a:xfrm>
            <a:off x="6309360" y="4041648"/>
            <a:ext cx="219456" cy="219456"/>
          </a:xfrm>
          <a:prstGeom prst="ellipse">
            <a:avLst/>
          </a:prstGeom>
          <a:solidFill>
            <a:srgbClr val="146EB4"/>
          </a:solidFill>
          <a:ln/>
        </p:spPr>
        <p:txBody>
          <a:bodyPr/>
          <a:lstStyle/>
          <a:p>
            <a:endParaRPr lang="en-US"/>
          </a:p>
        </p:txBody>
      </p:sp>
      <p:sp>
        <p:nvSpPr>
          <p:cNvPr id="22" name="Text 20"/>
          <p:cNvSpPr/>
          <p:nvPr/>
        </p:nvSpPr>
        <p:spPr>
          <a:xfrm>
            <a:off x="6675120" y="3849624"/>
            <a:ext cx="4800600" cy="603504"/>
          </a:xfrm>
          <a:prstGeom prst="rect">
            <a:avLst/>
          </a:prstGeom>
          <a:noFill/>
          <a:ln/>
        </p:spPr>
        <p:txBody>
          <a:bodyPr wrap="square" lIns="0" tIns="0" rIns="0" bIns="0" rtlCol="0" anchor="ctr"/>
          <a:lstStyle/>
          <a:p>
            <a:pPr marL="0" indent="0">
              <a:buNone/>
            </a:pPr>
            <a:r>
              <a:rPr lang="en-US" sz="1200" b="1" dirty="0">
                <a:solidFill>
                  <a:srgbClr val="232F3E"/>
                </a:solidFill>
                <a:latin typeface="Arial" pitchFamily="34" charset="0"/>
                <a:ea typeface="Arial" pitchFamily="34" charset="-122"/>
                <a:cs typeface="Arial" pitchFamily="34" charset="-120"/>
              </a:rPr>
              <a:t>FedEx Surround  (since 2019)
</a:t>
            </a:r>
            <a:r>
              <a:rPr lang="en-US" sz="1000" dirty="0">
                <a:solidFill>
                  <a:srgbClr val="5A6470"/>
                </a:solidFill>
                <a:latin typeface="Arial" pitchFamily="34" charset="0"/>
                <a:ea typeface="Arial" pitchFamily="34" charset="-122"/>
                <a:cs typeface="Arial" pitchFamily="34" charset="-120"/>
              </a:rPr>
              <a:t>~15M shipments/day with real-time AI</a:t>
            </a:r>
            <a:endParaRPr lang="en-US" sz="1200" dirty="0"/>
          </a:p>
        </p:txBody>
      </p:sp>
      <p:sp>
        <p:nvSpPr>
          <p:cNvPr id="23" name="Shape 21"/>
          <p:cNvSpPr/>
          <p:nvPr/>
        </p:nvSpPr>
        <p:spPr>
          <a:xfrm>
            <a:off x="548640" y="4636008"/>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4" name="Shape 22"/>
          <p:cNvSpPr/>
          <p:nvPr/>
        </p:nvSpPr>
        <p:spPr>
          <a:xfrm>
            <a:off x="731520" y="4882896"/>
            <a:ext cx="219456" cy="219456"/>
          </a:xfrm>
          <a:prstGeom prst="ellipse">
            <a:avLst/>
          </a:prstGeom>
          <a:solidFill>
            <a:srgbClr val="146EB4"/>
          </a:solidFill>
          <a:ln/>
        </p:spPr>
        <p:txBody>
          <a:bodyPr/>
          <a:lstStyle/>
          <a:p>
            <a:endParaRPr lang="en-US"/>
          </a:p>
        </p:txBody>
      </p:sp>
      <p:sp>
        <p:nvSpPr>
          <p:cNvPr id="25" name="Text 23"/>
          <p:cNvSpPr/>
          <p:nvPr/>
        </p:nvSpPr>
        <p:spPr>
          <a:xfrm>
            <a:off x="1097280" y="4690872"/>
            <a:ext cx="4800600" cy="603504"/>
          </a:xfrm>
          <a:prstGeom prst="rect">
            <a:avLst/>
          </a:prstGeom>
          <a:noFill/>
          <a:ln/>
        </p:spPr>
        <p:txBody>
          <a:bodyPr wrap="square" lIns="0" tIns="0" rIns="0" bIns="0" rtlCol="0" anchor="ctr"/>
          <a:lstStyle/>
          <a:p>
            <a:pPr marL="0" indent="0">
              <a:buNone/>
            </a:pPr>
            <a:r>
              <a:rPr lang="en-US" sz="1200" b="1" dirty="0">
                <a:solidFill>
                  <a:srgbClr val="232F3E"/>
                </a:solidFill>
                <a:latin typeface="Arial" pitchFamily="34" charset="0"/>
                <a:ea typeface="Arial" pitchFamily="34" charset="-122"/>
                <a:cs typeface="Arial" pitchFamily="34" charset="-120"/>
              </a:rPr>
              <a:t>Oracle / SAP TM  (20+ years)
</a:t>
            </a:r>
            <a:r>
              <a:rPr lang="en-US" sz="1000" dirty="0">
                <a:solidFill>
                  <a:srgbClr val="5A6470"/>
                </a:solidFill>
                <a:latin typeface="Arial" pitchFamily="34" charset="0"/>
                <a:ea typeface="Arial" pitchFamily="34" charset="-122"/>
                <a:cs typeface="Arial" pitchFamily="34" charset="-120"/>
              </a:rPr>
              <a:t>Enterprise ERP lock-in · $5M–$30M switching cost per client</a:t>
            </a:r>
            <a:endParaRPr lang="en-US" sz="1200" dirty="0"/>
          </a:p>
        </p:txBody>
      </p:sp>
      <p:sp>
        <p:nvSpPr>
          <p:cNvPr id="26" name="Shape 24"/>
          <p:cNvSpPr/>
          <p:nvPr/>
        </p:nvSpPr>
        <p:spPr>
          <a:xfrm>
            <a:off x="6126480" y="4636008"/>
            <a:ext cx="5440680" cy="713232"/>
          </a:xfrm>
          <a:prstGeom prst="roundRect">
            <a:avLst>
              <a:gd name="adj" fmla="val 10256"/>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7" name="Shape 25"/>
          <p:cNvSpPr/>
          <p:nvPr/>
        </p:nvSpPr>
        <p:spPr>
          <a:xfrm>
            <a:off x="6309360" y="4882896"/>
            <a:ext cx="219456" cy="219456"/>
          </a:xfrm>
          <a:prstGeom prst="ellipse">
            <a:avLst/>
          </a:prstGeom>
          <a:solidFill>
            <a:srgbClr val="146EB4"/>
          </a:solidFill>
          <a:ln/>
        </p:spPr>
        <p:txBody>
          <a:bodyPr/>
          <a:lstStyle/>
          <a:p>
            <a:endParaRPr lang="en-US"/>
          </a:p>
        </p:txBody>
      </p:sp>
      <p:sp>
        <p:nvSpPr>
          <p:cNvPr id="28" name="Text 26"/>
          <p:cNvSpPr/>
          <p:nvPr/>
        </p:nvSpPr>
        <p:spPr>
          <a:xfrm>
            <a:off x="6675120" y="4690872"/>
            <a:ext cx="4800600" cy="603504"/>
          </a:xfrm>
          <a:prstGeom prst="rect">
            <a:avLst/>
          </a:prstGeom>
          <a:noFill/>
          <a:ln/>
        </p:spPr>
        <p:txBody>
          <a:bodyPr wrap="square" lIns="0" tIns="0" rIns="0" bIns="0" rtlCol="0" anchor="ctr"/>
          <a:lstStyle/>
          <a:p>
            <a:pPr marL="0" indent="0">
              <a:buNone/>
            </a:pPr>
            <a:r>
              <a:rPr lang="en-US" sz="1200" b="1" dirty="0">
                <a:solidFill>
                  <a:srgbClr val="232F3E"/>
                </a:solidFill>
                <a:latin typeface="Arial" pitchFamily="34" charset="0"/>
                <a:ea typeface="Arial" pitchFamily="34" charset="-122"/>
                <a:cs typeface="Arial" pitchFamily="34" charset="-120"/>
              </a:rPr>
              <a:t>Walmart AI  (since 2020)
</a:t>
            </a:r>
            <a:r>
              <a:rPr lang="en-US" sz="1000" dirty="0">
                <a:solidFill>
                  <a:srgbClr val="5A6470"/>
                </a:solidFill>
                <a:latin typeface="Arial" pitchFamily="34" charset="0"/>
                <a:ea typeface="Arial" pitchFamily="34" charset="-122"/>
                <a:cs typeface="Arial" pitchFamily="34" charset="-120"/>
              </a:rPr>
              <a:t>30% shipping-cost reduction achieved at scale</a:t>
            </a:r>
            <a:endParaRPr lang="en-US" sz="1200" dirty="0"/>
          </a:p>
        </p:txBody>
      </p:sp>
      <p:sp>
        <p:nvSpPr>
          <p:cNvPr id="29" name="Text 27"/>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02 - UNIFIED PROBLEM &amp; IMPACT STATEMENT</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A Single, Enterprise-Wide Challenge</a:t>
            </a:r>
            <a:endParaRPr lang="en-US" sz="2600" dirty="0"/>
          </a:p>
        </p:txBody>
      </p:sp>
      <p:sp>
        <p:nvSpPr>
          <p:cNvPr id="4" name="Shape 2"/>
          <p:cNvSpPr/>
          <p:nvPr/>
        </p:nvSpPr>
        <p:spPr>
          <a:xfrm>
            <a:off x="548640" y="1691640"/>
            <a:ext cx="5486400" cy="4297680"/>
          </a:xfrm>
          <a:prstGeom prst="roundRect">
            <a:avLst>
              <a:gd name="adj" fmla="val 1702"/>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5" name="Text 3"/>
          <p:cNvSpPr/>
          <p:nvPr/>
        </p:nvSpPr>
        <p:spPr>
          <a:xfrm>
            <a:off x="822960" y="1874520"/>
            <a:ext cx="4937760" cy="320040"/>
          </a:xfrm>
          <a:prstGeom prst="rect">
            <a:avLst/>
          </a:prstGeom>
          <a:noFill/>
          <a:ln/>
        </p:spPr>
        <p:txBody>
          <a:bodyPr wrap="square" lIns="0" tIns="0" rIns="0" bIns="0" rtlCol="0" anchor="ctr"/>
          <a:lstStyle/>
          <a:p>
            <a:pPr marL="0" indent="0">
              <a:buNone/>
            </a:pPr>
            <a:r>
              <a:rPr lang="en-US" sz="1300" b="1" dirty="0">
                <a:solidFill>
                  <a:srgbClr val="FF9900"/>
                </a:solidFill>
                <a:latin typeface="Arial" pitchFamily="34" charset="0"/>
                <a:ea typeface="Arial" pitchFamily="34" charset="-122"/>
                <a:cs typeface="Arial" pitchFamily="34" charset="-120"/>
              </a:rPr>
              <a:t>PROBLEM STATEMENT</a:t>
            </a:r>
            <a:endParaRPr lang="en-US" sz="1300" dirty="0"/>
          </a:p>
        </p:txBody>
      </p:sp>
      <p:sp>
        <p:nvSpPr>
          <p:cNvPr id="6" name="Text 4"/>
          <p:cNvSpPr/>
          <p:nvPr/>
        </p:nvSpPr>
        <p:spPr>
          <a:xfrm>
            <a:off x="822960" y="2240280"/>
            <a:ext cx="4937760" cy="3566160"/>
          </a:xfrm>
          <a:prstGeom prst="rect">
            <a:avLst/>
          </a:prstGeom>
          <a:noFill/>
          <a:ln/>
        </p:spPr>
        <p:txBody>
          <a:bodyPr wrap="square" lIns="0" tIns="0" rIns="0" bIns="0" rtlCol="0" anchor="t"/>
          <a:lstStyle/>
          <a:p>
            <a:pPr marL="0" indent="0">
              <a:lnSpc>
                <a:spcPct val="105000"/>
              </a:lnSpc>
              <a:buNone/>
            </a:pPr>
            <a:r>
              <a:rPr lang="en-US" sz="1600" dirty="0">
                <a:solidFill>
                  <a:srgbClr val="232F3E"/>
                </a:solidFill>
                <a:latin typeface="Arial" pitchFamily="34" charset="0"/>
                <a:ea typeface="Arial" pitchFamily="34" charset="-122"/>
                <a:cs typeface="Arial" pitchFamily="34" charset="-120"/>
              </a:rPr>
              <a:t>Amazon’s last-mile network faces compounding, interconnected risks - financial overpayment, operational disruption, competitive displacement, cybersecurity breach, algorithmic bias, low user adoption, vendor lock-in, and regulatory non-compliance - that cannot be managed without a comprehensive ERM framework governing every phase of the platform’s acquisition, integration, and operation. Left unmanaged, they erode acquisition ROI, weaken Amazon’s competitive position, and expose the company to CCPA, EU AI Act, and antitrust enforcement.</a:t>
            </a:r>
            <a:endParaRPr lang="en-US" sz="1600" dirty="0"/>
          </a:p>
        </p:txBody>
      </p:sp>
      <p:sp>
        <p:nvSpPr>
          <p:cNvPr id="7" name="Shape 5"/>
          <p:cNvSpPr/>
          <p:nvPr/>
        </p:nvSpPr>
        <p:spPr>
          <a:xfrm>
            <a:off x="6400800" y="1691640"/>
            <a:ext cx="5212080" cy="4297680"/>
          </a:xfrm>
          <a:prstGeom prst="roundRect">
            <a:avLst>
              <a:gd name="adj" fmla="val 1702"/>
            </a:avLst>
          </a:prstGeom>
          <a:solidFill>
            <a:srgbClr val="232F3E"/>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8" name="Text 6"/>
          <p:cNvSpPr/>
          <p:nvPr/>
        </p:nvSpPr>
        <p:spPr>
          <a:xfrm>
            <a:off x="6675120" y="1874520"/>
            <a:ext cx="4663440" cy="320040"/>
          </a:xfrm>
          <a:prstGeom prst="rect">
            <a:avLst/>
          </a:prstGeom>
          <a:noFill/>
          <a:ln/>
        </p:spPr>
        <p:txBody>
          <a:bodyPr wrap="square" lIns="0" tIns="0" rIns="0" bIns="0" rtlCol="0" anchor="ctr"/>
          <a:lstStyle/>
          <a:p>
            <a:pPr marL="0" indent="0">
              <a:buNone/>
            </a:pPr>
            <a:r>
              <a:rPr lang="en-US" sz="1300" b="1" dirty="0">
                <a:solidFill>
                  <a:srgbClr val="FF9900"/>
                </a:solidFill>
                <a:latin typeface="Arial" pitchFamily="34" charset="0"/>
                <a:ea typeface="Arial" pitchFamily="34" charset="-122"/>
                <a:cs typeface="Arial" pitchFamily="34" charset="-120"/>
              </a:rPr>
              <a:t>QUANTIFIED IMPACT</a:t>
            </a:r>
            <a:endParaRPr lang="en-US" sz="1300" dirty="0"/>
          </a:p>
        </p:txBody>
      </p:sp>
      <p:sp>
        <p:nvSpPr>
          <p:cNvPr id="9" name="Text 7"/>
          <p:cNvSpPr/>
          <p:nvPr/>
        </p:nvSpPr>
        <p:spPr>
          <a:xfrm>
            <a:off x="6675120" y="2286000"/>
            <a:ext cx="4663440" cy="777240"/>
          </a:xfrm>
          <a:prstGeom prst="rect">
            <a:avLst/>
          </a:prstGeom>
          <a:noFill/>
          <a:ln/>
        </p:spPr>
        <p:txBody>
          <a:bodyPr wrap="square" lIns="0" tIns="0" rIns="0" bIns="0" rtlCol="0" anchor="t"/>
          <a:lstStyle/>
          <a:p>
            <a:pPr marL="0" indent="0">
              <a:buNone/>
            </a:pPr>
            <a:r>
              <a:rPr lang="en-US" sz="1600" b="1" dirty="0">
                <a:solidFill>
                  <a:srgbClr val="FF9900"/>
                </a:solidFill>
                <a:latin typeface="Arial" pitchFamily="34" charset="0"/>
                <a:ea typeface="Arial" pitchFamily="34" charset="-122"/>
                <a:cs typeface="Arial" pitchFamily="34" charset="-120"/>
              </a:rPr>
              <a:t>$400M–$1.36B / yr   </a:t>
            </a:r>
            <a:r>
              <a:rPr lang="en-US" sz="1600" dirty="0">
                <a:solidFill>
                  <a:srgbClr val="D7DBDF"/>
                </a:solidFill>
                <a:latin typeface="Arial" pitchFamily="34" charset="0"/>
                <a:ea typeface="Arial" pitchFamily="34" charset="-122"/>
                <a:cs typeface="Arial" pitchFamily="34" charset="-120"/>
              </a:rPr>
              <a:t>unrealized savings if efficiency is not captured</a:t>
            </a:r>
            <a:endParaRPr lang="en-US" sz="1600" dirty="0"/>
          </a:p>
        </p:txBody>
      </p:sp>
      <p:sp>
        <p:nvSpPr>
          <p:cNvPr id="10" name="Text 8"/>
          <p:cNvSpPr/>
          <p:nvPr/>
        </p:nvSpPr>
        <p:spPr>
          <a:xfrm>
            <a:off x="6675120" y="3154680"/>
            <a:ext cx="4663440" cy="777240"/>
          </a:xfrm>
          <a:prstGeom prst="rect">
            <a:avLst/>
          </a:prstGeom>
          <a:noFill/>
          <a:ln/>
        </p:spPr>
        <p:txBody>
          <a:bodyPr wrap="square" lIns="0" tIns="0" rIns="0" bIns="0" rtlCol="0" anchor="t"/>
          <a:lstStyle/>
          <a:p>
            <a:pPr marL="0" indent="0">
              <a:buNone/>
            </a:pPr>
            <a:r>
              <a:rPr lang="en-US" sz="1600" b="1" dirty="0">
                <a:solidFill>
                  <a:srgbClr val="FF9900"/>
                </a:solidFill>
                <a:latin typeface="Arial" pitchFamily="34" charset="0"/>
                <a:ea typeface="Arial" pitchFamily="34" charset="-122"/>
                <a:cs typeface="Arial" pitchFamily="34" charset="-120"/>
              </a:rPr>
              <a:t>$10.22M   </a:t>
            </a:r>
            <a:r>
              <a:rPr lang="en-US" sz="1600" dirty="0">
                <a:solidFill>
                  <a:srgbClr val="D7DBDF"/>
                </a:solidFill>
                <a:latin typeface="Arial" pitchFamily="34" charset="0"/>
                <a:ea typeface="Arial" pitchFamily="34" charset="-122"/>
                <a:cs typeface="Arial" pitchFamily="34" charset="-120"/>
              </a:rPr>
              <a:t>average US data-breach cost (IBM, 2025)</a:t>
            </a:r>
            <a:endParaRPr lang="en-US" sz="1600" dirty="0"/>
          </a:p>
        </p:txBody>
      </p:sp>
      <p:sp>
        <p:nvSpPr>
          <p:cNvPr id="11" name="Text 9"/>
          <p:cNvSpPr/>
          <p:nvPr/>
        </p:nvSpPr>
        <p:spPr>
          <a:xfrm>
            <a:off x="6675120" y="4023360"/>
            <a:ext cx="4663440" cy="777240"/>
          </a:xfrm>
          <a:prstGeom prst="rect">
            <a:avLst/>
          </a:prstGeom>
          <a:noFill/>
          <a:ln/>
        </p:spPr>
        <p:txBody>
          <a:bodyPr wrap="square" lIns="0" tIns="0" rIns="0" bIns="0" rtlCol="0" anchor="t"/>
          <a:lstStyle/>
          <a:p>
            <a:pPr marL="0" indent="0">
              <a:buNone/>
            </a:pPr>
            <a:r>
              <a:rPr lang="en-US" sz="1600" b="1" dirty="0">
                <a:solidFill>
                  <a:srgbClr val="FF9900"/>
                </a:solidFill>
                <a:latin typeface="Arial" pitchFamily="34" charset="0"/>
                <a:ea typeface="Arial" pitchFamily="34" charset="-122"/>
                <a:cs typeface="Arial" pitchFamily="34" charset="-120"/>
              </a:rPr>
              <a:t>~$50.2B   </a:t>
            </a:r>
            <a:r>
              <a:rPr lang="en-US" sz="1600" dirty="0">
                <a:solidFill>
                  <a:srgbClr val="D7DBDF"/>
                </a:solidFill>
                <a:latin typeface="Arial" pitchFamily="34" charset="0"/>
                <a:ea typeface="Arial" pitchFamily="34" charset="-122"/>
                <a:cs typeface="Arial" pitchFamily="34" charset="-120"/>
              </a:rPr>
              <a:t>EU AI Act exposure - 7% of FY2025 revenue</a:t>
            </a:r>
            <a:endParaRPr lang="en-US" sz="1600" dirty="0"/>
          </a:p>
        </p:txBody>
      </p:sp>
      <p:sp>
        <p:nvSpPr>
          <p:cNvPr id="12" name="Text 10"/>
          <p:cNvSpPr/>
          <p:nvPr/>
        </p:nvSpPr>
        <p:spPr>
          <a:xfrm>
            <a:off x="6675120" y="4892040"/>
            <a:ext cx="4663440" cy="777240"/>
          </a:xfrm>
          <a:prstGeom prst="rect">
            <a:avLst/>
          </a:prstGeom>
          <a:noFill/>
          <a:ln/>
        </p:spPr>
        <p:txBody>
          <a:bodyPr wrap="square" lIns="0" tIns="0" rIns="0" bIns="0" rtlCol="0" anchor="t"/>
          <a:lstStyle/>
          <a:p>
            <a:pPr marL="0" indent="0">
              <a:buNone/>
            </a:pPr>
            <a:r>
              <a:rPr lang="en-US" sz="1600" b="1" dirty="0">
                <a:solidFill>
                  <a:srgbClr val="FF9900"/>
                </a:solidFill>
                <a:latin typeface="Arial" pitchFamily="34" charset="0"/>
                <a:ea typeface="Arial" pitchFamily="34" charset="-122"/>
                <a:cs typeface="Arial" pitchFamily="34" charset="-120"/>
              </a:rPr>
              <a:t>$7,500 / violation   </a:t>
            </a:r>
            <a:r>
              <a:rPr lang="en-US" sz="1600" dirty="0">
                <a:solidFill>
                  <a:srgbClr val="D7DBDF"/>
                </a:solidFill>
                <a:latin typeface="Arial" pitchFamily="34" charset="0"/>
                <a:ea typeface="Arial" pitchFamily="34" charset="-122"/>
                <a:cs typeface="Arial" pitchFamily="34" charset="-120"/>
              </a:rPr>
              <a:t>CCPA, across 200M+ Prime customers</a:t>
            </a:r>
            <a:endParaRPr lang="en-US" sz="1600" dirty="0"/>
          </a:p>
        </p:txBody>
      </p:sp>
      <p:sp>
        <p:nvSpPr>
          <p:cNvPr id="13" name="Text 11"/>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Heat Map">
    <p:bg>
      <p:bgPr>
        <a:solidFill>
          <a:srgbClr val="FFFFFF"/>
        </a:solidFill>
        <a:effectLst/>
      </p:bgPr>
    </p:bg>
    <p:spTree>
      <p:nvGrpSpPr>
        <p:cNvPr id="1" name=""/>
        <p:cNvGrpSpPr/>
        <p:nvPr/>
      </p:nvGrpSpPr>
      <p:grpSpPr>
        <a:xfrm>
          <a:off x="0" y="0"/>
          <a:ext cx="0" cy="0"/>
          <a:chOff x="0" y="0"/>
          <a:chExt cx="0" cy="0"/>
        </a:xfrm>
      </p:grpSpPr>
      <p:sp>
        <p:nvSpPr>
          <p:cNvPr id="11" name="t"/>
          <p:cNvSpPr/>
          <p:nvPr/>
        </p:nvSpPr>
        <p:spPr>
          <a:xfrm>
            <a:off x="548640" y="420000"/>
            <a:ext cx="8229600" cy="274320"/>
          </a:xfrm>
          <a:prstGeom prst="rect">
            <a:avLst/>
          </a:prstGeom>
          <a:noFill/>
          <a:ln/>
        </p:spPr>
        <p:txBody>
          <a:bodyPr wrap="square" lIns="36000" tIns="18000" rIns="36000" bIns="18000" rtlCol="0" anchor="ctr"/>
          <a:lstStyle/>
          <a:p>
            <a:pPr marL="0" indent="0" algn="l">
              <a:buNone/>
            </a:pPr>
            <a:r>
              <a:rPr lang="en-US" sz="1200" b="1" kern="0" dirty="0">
                <a:solidFill>
                  <a:srgbClr val="FF9900"/>
                </a:solidFill>
                <a:latin typeface="Arial" pitchFamily="34" charset="0"/>
                <a:ea typeface="Arial" pitchFamily="34" charset="-122"/>
                <a:cs typeface="Arial" pitchFamily="34" charset="-120"/>
              </a:rPr>
              <a:t>02 - IDENTIFICATION OF RISKS</a:t>
            </a:r>
          </a:p>
        </p:txBody>
      </p:sp>
      <p:sp>
        <p:nvSpPr>
          <p:cNvPr id="12" name="t"/>
          <p:cNvSpPr/>
          <p:nvPr/>
        </p:nvSpPr>
        <p:spPr>
          <a:xfrm>
            <a:off x="548640" y="712000"/>
            <a:ext cx="11000000" cy="560000"/>
          </a:xfrm>
          <a:prstGeom prst="rect">
            <a:avLst/>
          </a:prstGeom>
          <a:noFill/>
          <a:ln/>
        </p:spPr>
        <p:txBody>
          <a:bodyPr wrap="square" lIns="36000" tIns="18000" rIns="36000" bIns="18000" rtlCol="0" anchor="ctr"/>
          <a:lstStyle/>
          <a:p>
            <a:pPr marL="0" indent="0" algn="l">
              <a:buNone/>
            </a:pPr>
            <a:r>
              <a:rPr lang="en-US" sz="2600" b="1" kern="0" dirty="0">
                <a:solidFill>
                  <a:srgbClr val="232F3E"/>
                </a:solidFill>
                <a:latin typeface="Arial" pitchFamily="34" charset="0"/>
                <a:ea typeface="Arial" pitchFamily="34" charset="-122"/>
                <a:cs typeface="Arial" pitchFamily="34" charset="-120"/>
              </a:rPr>
              <a:t>Consolidated Risk Register — 32-Risk Severity Heat Map</a:t>
            </a:r>
          </a:p>
        </p:txBody>
      </p:sp>
      <p:sp>
        <p:nvSpPr>
          <p:cNvPr id="13" name="t"/>
          <p:cNvSpPr/>
          <p:nvPr/>
        </p:nvSpPr>
        <p:spPr>
          <a:xfrm>
            <a:off x="548640" y="1300000"/>
            <a:ext cx="11064240" cy="430000"/>
          </a:xfrm>
          <a:prstGeom prst="rect">
            <a:avLst/>
          </a:prstGeom>
          <a:noFill/>
          <a:ln/>
        </p:spPr>
        <p:txBody>
          <a:bodyPr wrap="square" lIns="36000" tIns="18000" rIns="36000" bIns="18000" rtlCol="0" anchor="ctr"/>
          <a:lstStyle/>
          <a:p>
            <a:pPr marL="0" indent="0" algn="l">
              <a:buNone/>
            </a:pPr>
            <a:r>
              <a:rPr lang="en-US" sz="1150" kern="0" dirty="0">
                <a:solidFill>
                  <a:srgbClr val="5A6470"/>
                </a:solidFill>
                <a:latin typeface="Arial" pitchFamily="34" charset="0"/>
                <a:ea typeface="Arial" pitchFamily="34" charset="-122"/>
                <a:cs typeface="Arial" pitchFamily="34" charset="-120"/>
              </a:rPr>
              <a:t>All 32 negative risks plotted on a Likelihood (1/3/5/7/9) × Impact (1/2/4/6/8/9) grid. Each cell’s score is L × Impact; color marks its severity tier.</a:t>
            </a:r>
          </a:p>
        </p:txBody>
      </p:sp>
      <p:sp>
        <p:nvSpPr>
          <p:cNvPr id="14" name="vt"/>
          <p:cNvSpPr/>
          <p:nvPr/>
        </p:nvSpPr>
        <p:spPr>
          <a:xfrm rot="16200000">
            <a:off x="-1215360" y="3468335"/>
            <a:ext cx="3528000" cy="300000"/>
          </a:xfrm>
          <a:prstGeom prst="rect">
            <a:avLst/>
          </a:prstGeom>
          <a:noFill/>
          <a:ln/>
        </p:spPr>
        <p:txBody>
          <a:bodyPr wrap="none" lIns="0" tIns="0" rIns="0" bIns="0" rtlCol="0" anchor="ctr"/>
          <a:lstStyle/>
          <a:p>
            <a:pPr marL="0" indent="0" algn="ctr">
              <a:buNone/>
            </a:pPr>
            <a:r>
              <a:rPr lang="en-US" sz="1050" b="1" kern="0" dirty="0">
                <a:solidFill>
                  <a:srgbClr val="232F3E"/>
                </a:solidFill>
                <a:latin typeface="Arial" pitchFamily="34" charset="0"/>
                <a:ea typeface="Arial" pitchFamily="34" charset="-122"/>
                <a:cs typeface="Arial" pitchFamily="34" charset="-120"/>
              </a:rPr>
              <a:t>IMPACT (I)</a:t>
            </a:r>
          </a:p>
        </p:txBody>
      </p:sp>
      <p:sp>
        <p:nvSpPr>
          <p:cNvPr id="15" name="t"/>
          <p:cNvSpPr/>
          <p:nvPr/>
        </p:nvSpPr>
        <p:spPr>
          <a:xfrm>
            <a:off x="470000" y="1820000"/>
            <a:ext cx="970000" cy="588000"/>
          </a:xfrm>
          <a:prstGeom prst="rect">
            <a:avLst/>
          </a:prstGeom>
          <a:noFill/>
          <a:ln/>
        </p:spPr>
        <p:txBody>
          <a:bodyPr wrap="square" lIns="36000" tIns="18000" rIns="36000" bIns="18000" rtlCol="0" anchor="ctr"/>
          <a:lstStyle/>
          <a:p>
            <a:pPr marL="0" indent="0" algn="r">
              <a:lnSpc>
                <a:spcPts val="1000"/>
              </a:lnSpc>
              <a:buNone/>
            </a:pPr>
            <a:r>
              <a:rPr lang="en-US" sz="850" b="1" kern="0" dirty="0">
                <a:solidFill>
                  <a:srgbClr val="232F3E"/>
                </a:solidFill>
                <a:latin typeface="Arial" pitchFamily="34" charset="0"/>
                <a:ea typeface="Arial" pitchFamily="34" charset="-122"/>
                <a:cs typeface="Arial" pitchFamily="34" charset="-120"/>
              </a:rPr>
              <a:t>9  Extreme</a:t>
            </a:r>
          </a:p>
          <a:p>
            <a:pPr marL="0" indent="0" algn="r">
              <a:lnSpc>
                <a:spcPts val="850"/>
              </a:lnSpc>
              <a:buNone/>
            </a:pPr>
            <a:r>
              <a:rPr lang="en-US" sz="700" kern="0" dirty="0">
                <a:solidFill>
                  <a:srgbClr val="5A6470"/>
                </a:solidFill>
                <a:latin typeface="Arial" pitchFamily="34" charset="0"/>
                <a:ea typeface="Arial" pitchFamily="34" charset="-122"/>
                <a:cs typeface="Arial" pitchFamily="34" charset="-120"/>
              </a:rPr>
              <a:t>$5B+</a:t>
            </a:r>
          </a:p>
        </p:txBody>
      </p:sp>
      <p:sp>
        <p:nvSpPr>
          <p:cNvPr id="16" name="t"/>
          <p:cNvSpPr/>
          <p:nvPr/>
        </p:nvSpPr>
        <p:spPr>
          <a:xfrm>
            <a:off x="470000" y="2408000"/>
            <a:ext cx="970000" cy="588000"/>
          </a:xfrm>
          <a:prstGeom prst="rect">
            <a:avLst/>
          </a:prstGeom>
          <a:noFill/>
          <a:ln/>
        </p:spPr>
        <p:txBody>
          <a:bodyPr wrap="square" lIns="36000" tIns="18000" rIns="36000" bIns="18000" rtlCol="0" anchor="ctr"/>
          <a:lstStyle/>
          <a:p>
            <a:pPr marL="0" indent="0" algn="r">
              <a:lnSpc>
                <a:spcPts val="1000"/>
              </a:lnSpc>
              <a:buNone/>
            </a:pPr>
            <a:r>
              <a:rPr lang="en-US" sz="850" b="1" kern="0" dirty="0">
                <a:solidFill>
                  <a:srgbClr val="232F3E"/>
                </a:solidFill>
                <a:latin typeface="Arial" pitchFamily="34" charset="0"/>
                <a:ea typeface="Arial" pitchFamily="34" charset="-122"/>
                <a:cs typeface="Arial" pitchFamily="34" charset="-120"/>
              </a:rPr>
              <a:t>8  Very High</a:t>
            </a:r>
          </a:p>
          <a:p>
            <a:pPr marL="0" indent="0" algn="r">
              <a:lnSpc>
                <a:spcPts val="850"/>
              </a:lnSpc>
              <a:buNone/>
            </a:pPr>
            <a:r>
              <a:rPr lang="en-US" sz="700" kern="0" dirty="0">
                <a:solidFill>
                  <a:srgbClr val="5A6470"/>
                </a:solidFill>
                <a:latin typeface="Arial" pitchFamily="34" charset="0"/>
                <a:ea typeface="Arial" pitchFamily="34" charset="-122"/>
                <a:cs typeface="Arial" pitchFamily="34" charset="-120"/>
              </a:rPr>
              <a:t>$500M–5B</a:t>
            </a:r>
          </a:p>
        </p:txBody>
      </p:sp>
      <p:sp>
        <p:nvSpPr>
          <p:cNvPr id="17" name="t"/>
          <p:cNvSpPr/>
          <p:nvPr/>
        </p:nvSpPr>
        <p:spPr>
          <a:xfrm>
            <a:off x="470000" y="2996000"/>
            <a:ext cx="970000" cy="588000"/>
          </a:xfrm>
          <a:prstGeom prst="rect">
            <a:avLst/>
          </a:prstGeom>
          <a:noFill/>
          <a:ln/>
        </p:spPr>
        <p:txBody>
          <a:bodyPr wrap="square" lIns="36000" tIns="18000" rIns="36000" bIns="18000" rtlCol="0" anchor="ctr"/>
          <a:lstStyle/>
          <a:p>
            <a:pPr marL="0" indent="0" algn="r">
              <a:lnSpc>
                <a:spcPts val="1000"/>
              </a:lnSpc>
              <a:buNone/>
            </a:pPr>
            <a:r>
              <a:rPr lang="en-US" sz="850" b="1" kern="0" dirty="0">
                <a:solidFill>
                  <a:srgbClr val="232F3E"/>
                </a:solidFill>
                <a:latin typeface="Arial" pitchFamily="34" charset="0"/>
                <a:ea typeface="Arial" pitchFamily="34" charset="-122"/>
                <a:cs typeface="Arial" pitchFamily="34" charset="-120"/>
              </a:rPr>
              <a:t>6  High</a:t>
            </a:r>
          </a:p>
          <a:p>
            <a:pPr marL="0" indent="0" algn="r">
              <a:lnSpc>
                <a:spcPts val="850"/>
              </a:lnSpc>
              <a:buNone/>
            </a:pPr>
            <a:r>
              <a:rPr lang="en-US" sz="700" kern="0" dirty="0">
                <a:solidFill>
                  <a:srgbClr val="5A6470"/>
                </a:solidFill>
                <a:latin typeface="Arial" pitchFamily="34" charset="0"/>
                <a:ea typeface="Arial" pitchFamily="34" charset="-122"/>
                <a:cs typeface="Arial" pitchFamily="34" charset="-120"/>
              </a:rPr>
              <a:t>$100M–500M</a:t>
            </a:r>
          </a:p>
        </p:txBody>
      </p:sp>
      <p:sp>
        <p:nvSpPr>
          <p:cNvPr id="18" name="t"/>
          <p:cNvSpPr/>
          <p:nvPr/>
        </p:nvSpPr>
        <p:spPr>
          <a:xfrm>
            <a:off x="470000" y="3584000"/>
            <a:ext cx="970000" cy="588000"/>
          </a:xfrm>
          <a:prstGeom prst="rect">
            <a:avLst/>
          </a:prstGeom>
          <a:noFill/>
          <a:ln/>
        </p:spPr>
        <p:txBody>
          <a:bodyPr wrap="square" lIns="36000" tIns="18000" rIns="36000" bIns="18000" rtlCol="0" anchor="ctr"/>
          <a:lstStyle/>
          <a:p>
            <a:pPr marL="0" indent="0" algn="r">
              <a:lnSpc>
                <a:spcPts val="1000"/>
              </a:lnSpc>
              <a:buNone/>
            </a:pPr>
            <a:r>
              <a:rPr lang="en-US" sz="850" b="1" kern="0" dirty="0">
                <a:solidFill>
                  <a:srgbClr val="232F3E"/>
                </a:solidFill>
                <a:latin typeface="Arial" pitchFamily="34" charset="0"/>
                <a:ea typeface="Arial" pitchFamily="34" charset="-122"/>
                <a:cs typeface="Arial" pitchFamily="34" charset="-120"/>
              </a:rPr>
              <a:t>4  Moderate</a:t>
            </a:r>
          </a:p>
          <a:p>
            <a:pPr marL="0" indent="0" algn="r">
              <a:lnSpc>
                <a:spcPts val="850"/>
              </a:lnSpc>
              <a:buNone/>
            </a:pPr>
            <a:r>
              <a:rPr lang="en-US" sz="700" kern="0" dirty="0">
                <a:solidFill>
                  <a:srgbClr val="5A6470"/>
                </a:solidFill>
                <a:latin typeface="Arial" pitchFamily="34" charset="0"/>
                <a:ea typeface="Arial" pitchFamily="34" charset="-122"/>
                <a:cs typeface="Arial" pitchFamily="34" charset="-120"/>
              </a:rPr>
              <a:t>$10M–100M</a:t>
            </a:r>
          </a:p>
        </p:txBody>
      </p:sp>
      <p:sp>
        <p:nvSpPr>
          <p:cNvPr id="19" name="t"/>
          <p:cNvSpPr/>
          <p:nvPr/>
        </p:nvSpPr>
        <p:spPr>
          <a:xfrm>
            <a:off x="470000" y="4172000"/>
            <a:ext cx="970000" cy="588000"/>
          </a:xfrm>
          <a:prstGeom prst="rect">
            <a:avLst/>
          </a:prstGeom>
          <a:noFill/>
          <a:ln/>
        </p:spPr>
        <p:txBody>
          <a:bodyPr wrap="square" lIns="36000" tIns="18000" rIns="36000" bIns="18000" rtlCol="0" anchor="ctr"/>
          <a:lstStyle/>
          <a:p>
            <a:pPr marL="0" indent="0" algn="r">
              <a:lnSpc>
                <a:spcPts val="1000"/>
              </a:lnSpc>
              <a:buNone/>
            </a:pPr>
            <a:r>
              <a:rPr lang="en-US" sz="850" b="1" kern="0" dirty="0">
                <a:solidFill>
                  <a:srgbClr val="232F3E"/>
                </a:solidFill>
                <a:latin typeface="Arial" pitchFamily="34" charset="0"/>
                <a:ea typeface="Arial" pitchFamily="34" charset="-122"/>
                <a:cs typeface="Arial" pitchFamily="34" charset="-120"/>
              </a:rPr>
              <a:t>2  Low</a:t>
            </a:r>
          </a:p>
          <a:p>
            <a:pPr marL="0" indent="0" algn="r">
              <a:lnSpc>
                <a:spcPts val="850"/>
              </a:lnSpc>
              <a:buNone/>
            </a:pPr>
            <a:r>
              <a:rPr lang="en-US" sz="700" kern="0" dirty="0">
                <a:solidFill>
                  <a:srgbClr val="5A6470"/>
                </a:solidFill>
                <a:latin typeface="Arial" pitchFamily="34" charset="0"/>
                <a:ea typeface="Arial" pitchFamily="34" charset="-122"/>
                <a:cs typeface="Arial" pitchFamily="34" charset="-120"/>
              </a:rPr>
              <a:t>$1M–10M</a:t>
            </a:r>
          </a:p>
        </p:txBody>
      </p:sp>
      <p:sp>
        <p:nvSpPr>
          <p:cNvPr id="20" name="t"/>
          <p:cNvSpPr/>
          <p:nvPr/>
        </p:nvSpPr>
        <p:spPr>
          <a:xfrm>
            <a:off x="470000" y="4760000"/>
            <a:ext cx="970000" cy="588000"/>
          </a:xfrm>
          <a:prstGeom prst="rect">
            <a:avLst/>
          </a:prstGeom>
          <a:noFill/>
          <a:ln/>
        </p:spPr>
        <p:txBody>
          <a:bodyPr wrap="square" lIns="36000" tIns="18000" rIns="36000" bIns="18000" rtlCol="0" anchor="ctr"/>
          <a:lstStyle/>
          <a:p>
            <a:pPr marL="0" indent="0" algn="r">
              <a:lnSpc>
                <a:spcPts val="1000"/>
              </a:lnSpc>
              <a:buNone/>
            </a:pPr>
            <a:r>
              <a:rPr lang="en-US" sz="850" b="1" kern="0" dirty="0">
                <a:solidFill>
                  <a:srgbClr val="232F3E"/>
                </a:solidFill>
                <a:latin typeface="Arial" pitchFamily="34" charset="0"/>
                <a:ea typeface="Arial" pitchFamily="34" charset="-122"/>
                <a:cs typeface="Arial" pitchFamily="34" charset="-120"/>
              </a:rPr>
              <a:t>1  Very Low</a:t>
            </a:r>
          </a:p>
          <a:p>
            <a:pPr marL="0" indent="0" algn="r">
              <a:lnSpc>
                <a:spcPts val="850"/>
              </a:lnSpc>
              <a:buNone/>
            </a:pPr>
            <a:r>
              <a:rPr lang="en-US" sz="700" kern="0" dirty="0">
                <a:solidFill>
                  <a:srgbClr val="5A6470"/>
                </a:solidFill>
                <a:latin typeface="Arial" pitchFamily="34" charset="0"/>
                <a:ea typeface="Arial" pitchFamily="34" charset="-122"/>
                <a:cs typeface="Arial" pitchFamily="34" charset="-120"/>
              </a:rPr>
              <a:t>&lt;$1M</a:t>
            </a:r>
          </a:p>
        </p:txBody>
      </p:sp>
      <p:sp>
        <p:nvSpPr>
          <p:cNvPr id="21" name="r"/>
          <p:cNvSpPr/>
          <p:nvPr/>
        </p:nvSpPr>
        <p:spPr>
          <a:xfrm>
            <a:off x="1500000" y="1820000"/>
            <a:ext cx="1166000" cy="588000"/>
          </a:xfrm>
          <a:prstGeom prst="rect">
            <a:avLst/>
          </a:prstGeom>
          <a:solidFill>
            <a:srgbClr val="AECE8E"/>
          </a:solidFill>
          <a:ln w="19050">
            <a:solidFill>
              <a:srgbClr val="FFFFFF"/>
            </a:solidFill>
          </a:ln>
        </p:spPr>
        <p:txBody>
          <a:bodyPr/>
          <a:lstStyle/>
          <a:p>
            <a:endParaRPr lang="en-US"/>
          </a:p>
        </p:txBody>
      </p:sp>
      <p:sp>
        <p:nvSpPr>
          <p:cNvPr id="22" name="t"/>
          <p:cNvSpPr/>
          <p:nvPr/>
        </p:nvSpPr>
        <p:spPr>
          <a:xfrm>
            <a:off x="1510000" y="182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9</a:t>
            </a:r>
          </a:p>
        </p:txBody>
      </p:sp>
      <p:sp>
        <p:nvSpPr>
          <p:cNvPr id="23" name="r"/>
          <p:cNvSpPr/>
          <p:nvPr/>
        </p:nvSpPr>
        <p:spPr>
          <a:xfrm>
            <a:off x="2666000" y="1820000"/>
            <a:ext cx="1166000" cy="588000"/>
          </a:xfrm>
          <a:prstGeom prst="rect">
            <a:avLst/>
          </a:prstGeom>
          <a:solidFill>
            <a:srgbClr val="F4CE5E"/>
          </a:solidFill>
          <a:ln w="19050">
            <a:solidFill>
              <a:srgbClr val="FFFFFF"/>
            </a:solidFill>
          </a:ln>
        </p:spPr>
        <p:txBody>
          <a:bodyPr/>
          <a:lstStyle/>
          <a:p>
            <a:endParaRPr lang="en-US"/>
          </a:p>
        </p:txBody>
      </p:sp>
      <p:sp>
        <p:nvSpPr>
          <p:cNvPr id="24" name="t"/>
          <p:cNvSpPr/>
          <p:nvPr/>
        </p:nvSpPr>
        <p:spPr>
          <a:xfrm>
            <a:off x="2676000" y="182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27</a:t>
            </a:r>
          </a:p>
        </p:txBody>
      </p:sp>
      <p:sp>
        <p:nvSpPr>
          <p:cNvPr id="25" name="r"/>
          <p:cNvSpPr/>
          <p:nvPr/>
        </p:nvSpPr>
        <p:spPr>
          <a:xfrm>
            <a:off x="3832000" y="1820000"/>
            <a:ext cx="1166000" cy="588000"/>
          </a:xfrm>
          <a:prstGeom prst="rect">
            <a:avLst/>
          </a:prstGeom>
          <a:solidFill>
            <a:srgbClr val="E8843C"/>
          </a:solidFill>
          <a:ln w="19050">
            <a:solidFill>
              <a:srgbClr val="FFFFFF"/>
            </a:solidFill>
          </a:ln>
        </p:spPr>
        <p:txBody>
          <a:bodyPr/>
          <a:lstStyle/>
          <a:p>
            <a:endParaRPr lang="en-US"/>
          </a:p>
        </p:txBody>
      </p:sp>
      <p:sp>
        <p:nvSpPr>
          <p:cNvPr id="26" name="t"/>
          <p:cNvSpPr/>
          <p:nvPr/>
        </p:nvSpPr>
        <p:spPr>
          <a:xfrm>
            <a:off x="3842000" y="182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45</a:t>
            </a:r>
          </a:p>
        </p:txBody>
      </p:sp>
      <p:sp>
        <p:nvSpPr>
          <p:cNvPr id="27" name="t"/>
          <p:cNvSpPr/>
          <p:nvPr/>
        </p:nvSpPr>
        <p:spPr>
          <a:xfrm>
            <a:off x="3840000" y="1970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232F3E"/>
                </a:solidFill>
                <a:latin typeface="Arial" pitchFamily="34" charset="0"/>
                <a:ea typeface="Arial" pitchFamily="34" charset="-122"/>
                <a:cs typeface="Arial" pitchFamily="34" charset="-120"/>
              </a:rPr>
              <a:t>R10  R14</a:t>
            </a:r>
          </a:p>
        </p:txBody>
      </p:sp>
      <p:sp>
        <p:nvSpPr>
          <p:cNvPr id="28" name="r"/>
          <p:cNvSpPr/>
          <p:nvPr/>
        </p:nvSpPr>
        <p:spPr>
          <a:xfrm>
            <a:off x="4998000" y="1820000"/>
            <a:ext cx="1166000" cy="588000"/>
          </a:xfrm>
          <a:prstGeom prst="rect">
            <a:avLst/>
          </a:prstGeom>
          <a:solidFill>
            <a:srgbClr val="CC4125"/>
          </a:solidFill>
          <a:ln w="19050">
            <a:solidFill>
              <a:srgbClr val="FFFFFF"/>
            </a:solidFill>
          </a:ln>
        </p:spPr>
        <p:txBody>
          <a:bodyPr/>
          <a:lstStyle/>
          <a:p>
            <a:endParaRPr lang="en-US"/>
          </a:p>
        </p:txBody>
      </p:sp>
      <p:sp>
        <p:nvSpPr>
          <p:cNvPr id="29" name="t"/>
          <p:cNvSpPr/>
          <p:nvPr/>
        </p:nvSpPr>
        <p:spPr>
          <a:xfrm>
            <a:off x="5008000" y="182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FFFFFF"/>
                </a:solidFill>
                <a:latin typeface="Arial" pitchFamily="34" charset="0"/>
                <a:ea typeface="Arial" pitchFamily="34" charset="-122"/>
                <a:cs typeface="Arial" pitchFamily="34" charset="-120"/>
              </a:rPr>
              <a:t>63</a:t>
            </a:r>
          </a:p>
        </p:txBody>
      </p:sp>
      <p:sp>
        <p:nvSpPr>
          <p:cNvPr id="30" name="t"/>
          <p:cNvSpPr/>
          <p:nvPr/>
        </p:nvSpPr>
        <p:spPr>
          <a:xfrm>
            <a:off x="5006000" y="1970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FFFFFF"/>
                </a:solidFill>
                <a:latin typeface="Arial" pitchFamily="34" charset="0"/>
                <a:ea typeface="Arial" pitchFamily="34" charset="-122"/>
                <a:cs typeface="Arial" pitchFamily="34" charset="-120"/>
              </a:rPr>
              <a:t>R7</a:t>
            </a:r>
          </a:p>
        </p:txBody>
      </p:sp>
      <p:sp>
        <p:nvSpPr>
          <p:cNvPr id="31" name="r"/>
          <p:cNvSpPr/>
          <p:nvPr/>
        </p:nvSpPr>
        <p:spPr>
          <a:xfrm>
            <a:off x="6164000" y="1820000"/>
            <a:ext cx="1166000" cy="588000"/>
          </a:xfrm>
          <a:prstGeom prst="rect">
            <a:avLst/>
          </a:prstGeom>
          <a:solidFill>
            <a:srgbClr val="CC4125"/>
          </a:solidFill>
          <a:ln w="19050">
            <a:solidFill>
              <a:srgbClr val="FFFFFF"/>
            </a:solidFill>
          </a:ln>
        </p:spPr>
        <p:txBody>
          <a:bodyPr/>
          <a:lstStyle/>
          <a:p>
            <a:endParaRPr lang="en-US"/>
          </a:p>
        </p:txBody>
      </p:sp>
      <p:sp>
        <p:nvSpPr>
          <p:cNvPr id="32" name="t"/>
          <p:cNvSpPr/>
          <p:nvPr/>
        </p:nvSpPr>
        <p:spPr>
          <a:xfrm>
            <a:off x="6174000" y="182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FFFFFF"/>
                </a:solidFill>
                <a:latin typeface="Arial" pitchFamily="34" charset="0"/>
                <a:ea typeface="Arial" pitchFamily="34" charset="-122"/>
                <a:cs typeface="Arial" pitchFamily="34" charset="-120"/>
              </a:rPr>
              <a:t>81</a:t>
            </a:r>
          </a:p>
        </p:txBody>
      </p:sp>
      <p:sp>
        <p:nvSpPr>
          <p:cNvPr id="33" name="r"/>
          <p:cNvSpPr/>
          <p:nvPr/>
        </p:nvSpPr>
        <p:spPr>
          <a:xfrm>
            <a:off x="1500000" y="2408000"/>
            <a:ext cx="1166000" cy="588000"/>
          </a:xfrm>
          <a:prstGeom prst="rect">
            <a:avLst/>
          </a:prstGeom>
          <a:solidFill>
            <a:srgbClr val="AECE8E"/>
          </a:solidFill>
          <a:ln w="19050">
            <a:solidFill>
              <a:srgbClr val="FFFFFF"/>
            </a:solidFill>
          </a:ln>
        </p:spPr>
        <p:txBody>
          <a:bodyPr/>
          <a:lstStyle/>
          <a:p>
            <a:endParaRPr lang="en-US"/>
          </a:p>
        </p:txBody>
      </p:sp>
      <p:sp>
        <p:nvSpPr>
          <p:cNvPr id="34" name="t"/>
          <p:cNvSpPr/>
          <p:nvPr/>
        </p:nvSpPr>
        <p:spPr>
          <a:xfrm>
            <a:off x="1510000" y="2414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8</a:t>
            </a:r>
          </a:p>
        </p:txBody>
      </p:sp>
      <p:sp>
        <p:nvSpPr>
          <p:cNvPr id="35" name="r"/>
          <p:cNvSpPr/>
          <p:nvPr/>
        </p:nvSpPr>
        <p:spPr>
          <a:xfrm>
            <a:off x="2666000" y="2408000"/>
            <a:ext cx="1166000" cy="588000"/>
          </a:xfrm>
          <a:prstGeom prst="rect">
            <a:avLst/>
          </a:prstGeom>
          <a:solidFill>
            <a:srgbClr val="F4CE5E"/>
          </a:solidFill>
          <a:ln w="19050">
            <a:solidFill>
              <a:srgbClr val="FFFFFF"/>
            </a:solidFill>
          </a:ln>
        </p:spPr>
        <p:txBody>
          <a:bodyPr/>
          <a:lstStyle/>
          <a:p>
            <a:endParaRPr lang="en-US"/>
          </a:p>
        </p:txBody>
      </p:sp>
      <p:sp>
        <p:nvSpPr>
          <p:cNvPr id="36" name="t"/>
          <p:cNvSpPr/>
          <p:nvPr/>
        </p:nvSpPr>
        <p:spPr>
          <a:xfrm>
            <a:off x="2676000" y="2414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24</a:t>
            </a:r>
          </a:p>
        </p:txBody>
      </p:sp>
      <p:sp>
        <p:nvSpPr>
          <p:cNvPr id="37" name="t"/>
          <p:cNvSpPr/>
          <p:nvPr/>
        </p:nvSpPr>
        <p:spPr>
          <a:xfrm>
            <a:off x="2674000" y="2558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232F3E"/>
                </a:solidFill>
                <a:latin typeface="Arial" pitchFamily="34" charset="0"/>
                <a:ea typeface="Arial" pitchFamily="34" charset="-122"/>
                <a:cs typeface="Arial" pitchFamily="34" charset="-120"/>
              </a:rPr>
              <a:t>R12</a:t>
            </a:r>
          </a:p>
        </p:txBody>
      </p:sp>
      <p:sp>
        <p:nvSpPr>
          <p:cNvPr id="38" name="r"/>
          <p:cNvSpPr/>
          <p:nvPr/>
        </p:nvSpPr>
        <p:spPr>
          <a:xfrm>
            <a:off x="3832000" y="2408000"/>
            <a:ext cx="1166000" cy="588000"/>
          </a:xfrm>
          <a:prstGeom prst="rect">
            <a:avLst/>
          </a:prstGeom>
          <a:solidFill>
            <a:srgbClr val="E8843C"/>
          </a:solidFill>
          <a:ln w="19050">
            <a:solidFill>
              <a:srgbClr val="FFFFFF"/>
            </a:solidFill>
          </a:ln>
        </p:spPr>
        <p:txBody>
          <a:bodyPr/>
          <a:lstStyle/>
          <a:p>
            <a:endParaRPr lang="en-US"/>
          </a:p>
        </p:txBody>
      </p:sp>
      <p:sp>
        <p:nvSpPr>
          <p:cNvPr id="39" name="t"/>
          <p:cNvSpPr/>
          <p:nvPr/>
        </p:nvSpPr>
        <p:spPr>
          <a:xfrm>
            <a:off x="3842000" y="2414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40</a:t>
            </a:r>
          </a:p>
        </p:txBody>
      </p:sp>
      <p:sp>
        <p:nvSpPr>
          <p:cNvPr id="40" name="t"/>
          <p:cNvSpPr/>
          <p:nvPr/>
        </p:nvSpPr>
        <p:spPr>
          <a:xfrm>
            <a:off x="3840000" y="2558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232F3E"/>
                </a:solidFill>
                <a:latin typeface="Arial" pitchFamily="34" charset="0"/>
                <a:ea typeface="Arial" pitchFamily="34" charset="-122"/>
                <a:cs typeface="Arial" pitchFamily="34" charset="-120"/>
              </a:rPr>
              <a:t>R11  R19  R28</a:t>
            </a:r>
          </a:p>
          <a:p>
            <a:pPr marL="0" indent="0" algn="ctr">
              <a:lnSpc>
                <a:spcPts val="850"/>
              </a:lnSpc>
              <a:buNone/>
            </a:pPr>
            <a:r>
              <a:rPr lang="en-US" sz="750" b="1" kern="0" dirty="0">
                <a:solidFill>
                  <a:srgbClr val="232F3E"/>
                </a:solidFill>
                <a:latin typeface="Arial" pitchFamily="34" charset="0"/>
                <a:ea typeface="Arial" pitchFamily="34" charset="-122"/>
                <a:cs typeface="Arial" pitchFamily="34" charset="-120"/>
              </a:rPr>
              <a:t>R29</a:t>
            </a:r>
          </a:p>
        </p:txBody>
      </p:sp>
      <p:sp>
        <p:nvSpPr>
          <p:cNvPr id="41" name="r"/>
          <p:cNvSpPr/>
          <p:nvPr/>
        </p:nvSpPr>
        <p:spPr>
          <a:xfrm>
            <a:off x="4998000" y="2408000"/>
            <a:ext cx="1166000" cy="588000"/>
          </a:xfrm>
          <a:prstGeom prst="rect">
            <a:avLst/>
          </a:prstGeom>
          <a:solidFill>
            <a:srgbClr val="CC4125"/>
          </a:solidFill>
          <a:ln w="19050">
            <a:solidFill>
              <a:srgbClr val="FFFFFF"/>
            </a:solidFill>
          </a:ln>
        </p:spPr>
        <p:txBody>
          <a:bodyPr/>
          <a:lstStyle/>
          <a:p>
            <a:endParaRPr lang="en-US"/>
          </a:p>
        </p:txBody>
      </p:sp>
      <p:sp>
        <p:nvSpPr>
          <p:cNvPr id="42" name="t"/>
          <p:cNvSpPr/>
          <p:nvPr/>
        </p:nvSpPr>
        <p:spPr>
          <a:xfrm>
            <a:off x="5008000" y="2414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FFFFFF"/>
                </a:solidFill>
                <a:latin typeface="Arial" pitchFamily="34" charset="0"/>
                <a:ea typeface="Arial" pitchFamily="34" charset="-122"/>
                <a:cs typeface="Arial" pitchFamily="34" charset="-120"/>
              </a:rPr>
              <a:t>56</a:t>
            </a:r>
          </a:p>
        </p:txBody>
      </p:sp>
      <p:sp>
        <p:nvSpPr>
          <p:cNvPr id="43" name="t"/>
          <p:cNvSpPr/>
          <p:nvPr/>
        </p:nvSpPr>
        <p:spPr>
          <a:xfrm>
            <a:off x="5006000" y="2558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FFFFFF"/>
                </a:solidFill>
                <a:latin typeface="Arial" pitchFamily="34" charset="0"/>
                <a:ea typeface="Arial" pitchFamily="34" charset="-122"/>
                <a:cs typeface="Arial" pitchFamily="34" charset="-120"/>
              </a:rPr>
              <a:t>R1  R5  R22</a:t>
            </a:r>
          </a:p>
          <a:p>
            <a:pPr marL="0" indent="0" algn="ctr">
              <a:lnSpc>
                <a:spcPts val="850"/>
              </a:lnSpc>
              <a:buNone/>
            </a:pPr>
            <a:r>
              <a:rPr lang="en-US" sz="750" b="1" kern="0" dirty="0">
                <a:solidFill>
                  <a:srgbClr val="FFFFFF"/>
                </a:solidFill>
                <a:latin typeface="Arial" pitchFamily="34" charset="0"/>
                <a:ea typeface="Arial" pitchFamily="34" charset="-122"/>
                <a:cs typeface="Arial" pitchFamily="34" charset="-120"/>
              </a:rPr>
              <a:t>R27</a:t>
            </a:r>
          </a:p>
        </p:txBody>
      </p:sp>
      <p:sp>
        <p:nvSpPr>
          <p:cNvPr id="44" name="r"/>
          <p:cNvSpPr/>
          <p:nvPr/>
        </p:nvSpPr>
        <p:spPr>
          <a:xfrm>
            <a:off x="6164000" y="2408000"/>
            <a:ext cx="1166000" cy="588000"/>
          </a:xfrm>
          <a:prstGeom prst="rect">
            <a:avLst/>
          </a:prstGeom>
          <a:solidFill>
            <a:srgbClr val="CC4125"/>
          </a:solidFill>
          <a:ln w="19050">
            <a:solidFill>
              <a:srgbClr val="FFFFFF"/>
            </a:solidFill>
          </a:ln>
        </p:spPr>
        <p:txBody>
          <a:bodyPr/>
          <a:lstStyle/>
          <a:p>
            <a:endParaRPr lang="en-US"/>
          </a:p>
        </p:txBody>
      </p:sp>
      <p:sp>
        <p:nvSpPr>
          <p:cNvPr id="45" name="t"/>
          <p:cNvSpPr/>
          <p:nvPr/>
        </p:nvSpPr>
        <p:spPr>
          <a:xfrm>
            <a:off x="6174000" y="2414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FFFFFF"/>
                </a:solidFill>
                <a:latin typeface="Arial" pitchFamily="34" charset="0"/>
                <a:ea typeface="Arial" pitchFamily="34" charset="-122"/>
                <a:cs typeface="Arial" pitchFamily="34" charset="-120"/>
              </a:rPr>
              <a:t>72</a:t>
            </a:r>
          </a:p>
        </p:txBody>
      </p:sp>
      <p:sp>
        <p:nvSpPr>
          <p:cNvPr id="46" name="t"/>
          <p:cNvSpPr/>
          <p:nvPr/>
        </p:nvSpPr>
        <p:spPr>
          <a:xfrm>
            <a:off x="6172000" y="2558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FFFFFF"/>
                </a:solidFill>
                <a:latin typeface="Arial" pitchFamily="34" charset="0"/>
                <a:ea typeface="Arial" pitchFamily="34" charset="-122"/>
                <a:cs typeface="Arial" pitchFamily="34" charset="-120"/>
              </a:rPr>
              <a:t>R26</a:t>
            </a:r>
          </a:p>
        </p:txBody>
      </p:sp>
      <p:sp>
        <p:nvSpPr>
          <p:cNvPr id="47" name="r"/>
          <p:cNvSpPr/>
          <p:nvPr/>
        </p:nvSpPr>
        <p:spPr>
          <a:xfrm>
            <a:off x="1500000" y="2996000"/>
            <a:ext cx="1166000" cy="588000"/>
          </a:xfrm>
          <a:prstGeom prst="rect">
            <a:avLst/>
          </a:prstGeom>
          <a:solidFill>
            <a:srgbClr val="AECE8E"/>
          </a:solidFill>
          <a:ln w="19050">
            <a:solidFill>
              <a:srgbClr val="FFFFFF"/>
            </a:solidFill>
          </a:ln>
        </p:spPr>
        <p:txBody>
          <a:bodyPr/>
          <a:lstStyle/>
          <a:p>
            <a:endParaRPr lang="en-US"/>
          </a:p>
        </p:txBody>
      </p:sp>
      <p:sp>
        <p:nvSpPr>
          <p:cNvPr id="48" name="t"/>
          <p:cNvSpPr/>
          <p:nvPr/>
        </p:nvSpPr>
        <p:spPr>
          <a:xfrm>
            <a:off x="1510000" y="3002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6</a:t>
            </a:r>
          </a:p>
        </p:txBody>
      </p:sp>
      <p:sp>
        <p:nvSpPr>
          <p:cNvPr id="49" name="r"/>
          <p:cNvSpPr/>
          <p:nvPr/>
        </p:nvSpPr>
        <p:spPr>
          <a:xfrm>
            <a:off x="2666000" y="2996000"/>
            <a:ext cx="1166000" cy="588000"/>
          </a:xfrm>
          <a:prstGeom prst="rect">
            <a:avLst/>
          </a:prstGeom>
          <a:solidFill>
            <a:srgbClr val="F4CE5E"/>
          </a:solidFill>
          <a:ln w="19050">
            <a:solidFill>
              <a:srgbClr val="FFFFFF"/>
            </a:solidFill>
          </a:ln>
        </p:spPr>
        <p:txBody>
          <a:bodyPr/>
          <a:lstStyle/>
          <a:p>
            <a:endParaRPr lang="en-US"/>
          </a:p>
        </p:txBody>
      </p:sp>
      <p:sp>
        <p:nvSpPr>
          <p:cNvPr id="50" name="t"/>
          <p:cNvSpPr/>
          <p:nvPr/>
        </p:nvSpPr>
        <p:spPr>
          <a:xfrm>
            <a:off x="2676000" y="3002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18</a:t>
            </a:r>
          </a:p>
        </p:txBody>
      </p:sp>
      <p:sp>
        <p:nvSpPr>
          <p:cNvPr id="51" name="t"/>
          <p:cNvSpPr/>
          <p:nvPr/>
        </p:nvSpPr>
        <p:spPr>
          <a:xfrm>
            <a:off x="2674000" y="3146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232F3E"/>
                </a:solidFill>
                <a:latin typeface="Arial" pitchFamily="34" charset="0"/>
                <a:ea typeface="Arial" pitchFamily="34" charset="-122"/>
                <a:cs typeface="Arial" pitchFamily="34" charset="-120"/>
              </a:rPr>
              <a:t>R13  R32</a:t>
            </a:r>
          </a:p>
        </p:txBody>
      </p:sp>
      <p:sp>
        <p:nvSpPr>
          <p:cNvPr id="52" name="r"/>
          <p:cNvSpPr/>
          <p:nvPr/>
        </p:nvSpPr>
        <p:spPr>
          <a:xfrm>
            <a:off x="3832000" y="2996000"/>
            <a:ext cx="1166000" cy="588000"/>
          </a:xfrm>
          <a:prstGeom prst="rect">
            <a:avLst/>
          </a:prstGeom>
          <a:solidFill>
            <a:srgbClr val="F4CE5E"/>
          </a:solidFill>
          <a:ln w="19050">
            <a:solidFill>
              <a:srgbClr val="FFFFFF"/>
            </a:solidFill>
          </a:ln>
        </p:spPr>
        <p:txBody>
          <a:bodyPr/>
          <a:lstStyle/>
          <a:p>
            <a:endParaRPr lang="en-US"/>
          </a:p>
        </p:txBody>
      </p:sp>
      <p:sp>
        <p:nvSpPr>
          <p:cNvPr id="53" name="t"/>
          <p:cNvSpPr/>
          <p:nvPr/>
        </p:nvSpPr>
        <p:spPr>
          <a:xfrm>
            <a:off x="3842000" y="3002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30</a:t>
            </a:r>
          </a:p>
        </p:txBody>
      </p:sp>
      <p:sp>
        <p:nvSpPr>
          <p:cNvPr id="54" name="t"/>
          <p:cNvSpPr/>
          <p:nvPr/>
        </p:nvSpPr>
        <p:spPr>
          <a:xfrm>
            <a:off x="3840000" y="3146000"/>
            <a:ext cx="1150000" cy="438000"/>
          </a:xfrm>
          <a:prstGeom prst="rect">
            <a:avLst/>
          </a:prstGeom>
          <a:noFill/>
          <a:ln/>
        </p:spPr>
        <p:txBody>
          <a:bodyPr wrap="square" lIns="36000" tIns="18000" rIns="36000" bIns="18000" rtlCol="0" anchor="ctr"/>
          <a:lstStyle/>
          <a:p>
            <a:pPr marL="0" indent="0" algn="ctr">
              <a:lnSpc>
                <a:spcPts val="760"/>
              </a:lnSpc>
              <a:buNone/>
            </a:pPr>
            <a:r>
              <a:rPr lang="en-US" sz="650" b="1" kern="0" dirty="0">
                <a:solidFill>
                  <a:srgbClr val="232F3E"/>
                </a:solidFill>
                <a:latin typeface="Arial" pitchFamily="34" charset="0"/>
                <a:ea typeface="Arial" pitchFamily="34" charset="-122"/>
                <a:cs typeface="Arial" pitchFamily="34" charset="-120"/>
              </a:rPr>
              <a:t>R3  R6  R8</a:t>
            </a:r>
          </a:p>
          <a:p>
            <a:pPr marL="0" indent="0" algn="ctr">
              <a:lnSpc>
                <a:spcPts val="760"/>
              </a:lnSpc>
              <a:buNone/>
            </a:pPr>
            <a:r>
              <a:rPr lang="en-US" sz="650" b="1" kern="0" dirty="0">
                <a:solidFill>
                  <a:srgbClr val="232F3E"/>
                </a:solidFill>
                <a:latin typeface="Arial" pitchFamily="34" charset="0"/>
                <a:ea typeface="Arial" pitchFamily="34" charset="-122"/>
                <a:cs typeface="Arial" pitchFamily="34" charset="-120"/>
              </a:rPr>
              <a:t>R9  R15  R17</a:t>
            </a:r>
          </a:p>
          <a:p>
            <a:pPr marL="0" indent="0" algn="ctr">
              <a:lnSpc>
                <a:spcPts val="760"/>
              </a:lnSpc>
              <a:buNone/>
            </a:pPr>
            <a:r>
              <a:rPr lang="en-US" sz="650" b="1" kern="0" dirty="0">
                <a:solidFill>
                  <a:srgbClr val="232F3E"/>
                </a:solidFill>
                <a:latin typeface="Arial" pitchFamily="34" charset="0"/>
                <a:ea typeface="Arial" pitchFamily="34" charset="-122"/>
                <a:cs typeface="Arial" pitchFamily="34" charset="-120"/>
              </a:rPr>
              <a:t>R20  R30  R31</a:t>
            </a:r>
          </a:p>
        </p:txBody>
      </p:sp>
      <p:sp>
        <p:nvSpPr>
          <p:cNvPr id="55" name="r"/>
          <p:cNvSpPr/>
          <p:nvPr/>
        </p:nvSpPr>
        <p:spPr>
          <a:xfrm>
            <a:off x="4998000" y="2996000"/>
            <a:ext cx="1166000" cy="588000"/>
          </a:xfrm>
          <a:prstGeom prst="rect">
            <a:avLst/>
          </a:prstGeom>
          <a:solidFill>
            <a:srgbClr val="E8843C"/>
          </a:solidFill>
          <a:ln w="19050">
            <a:solidFill>
              <a:srgbClr val="FFFFFF"/>
            </a:solidFill>
          </a:ln>
        </p:spPr>
        <p:txBody>
          <a:bodyPr/>
          <a:lstStyle/>
          <a:p>
            <a:endParaRPr lang="en-US"/>
          </a:p>
        </p:txBody>
      </p:sp>
      <p:sp>
        <p:nvSpPr>
          <p:cNvPr id="56" name="t"/>
          <p:cNvSpPr/>
          <p:nvPr/>
        </p:nvSpPr>
        <p:spPr>
          <a:xfrm>
            <a:off x="5008000" y="3002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42</a:t>
            </a:r>
          </a:p>
        </p:txBody>
      </p:sp>
      <p:sp>
        <p:nvSpPr>
          <p:cNvPr id="57" name="t"/>
          <p:cNvSpPr/>
          <p:nvPr/>
        </p:nvSpPr>
        <p:spPr>
          <a:xfrm>
            <a:off x="5006000" y="3146000"/>
            <a:ext cx="1150000" cy="438000"/>
          </a:xfrm>
          <a:prstGeom prst="rect">
            <a:avLst/>
          </a:prstGeom>
          <a:noFill/>
          <a:ln/>
        </p:spPr>
        <p:txBody>
          <a:bodyPr wrap="square" lIns="36000" tIns="18000" rIns="36000" bIns="18000" rtlCol="0" anchor="ctr"/>
          <a:lstStyle/>
          <a:p>
            <a:pPr marL="0" indent="0" algn="ctr">
              <a:lnSpc>
                <a:spcPts val="760"/>
              </a:lnSpc>
              <a:buNone/>
            </a:pPr>
            <a:r>
              <a:rPr lang="en-US" sz="650" b="1" kern="0" dirty="0">
                <a:solidFill>
                  <a:srgbClr val="232F3E"/>
                </a:solidFill>
                <a:latin typeface="Arial" pitchFamily="34" charset="0"/>
                <a:ea typeface="Arial" pitchFamily="34" charset="-122"/>
                <a:cs typeface="Arial" pitchFamily="34" charset="-120"/>
              </a:rPr>
              <a:t>R2  R16  R18</a:t>
            </a:r>
          </a:p>
          <a:p>
            <a:pPr marL="0" indent="0" algn="ctr">
              <a:lnSpc>
                <a:spcPts val="760"/>
              </a:lnSpc>
              <a:buNone/>
            </a:pPr>
            <a:r>
              <a:rPr lang="en-US" sz="650" b="1" kern="0" dirty="0">
                <a:solidFill>
                  <a:srgbClr val="232F3E"/>
                </a:solidFill>
                <a:latin typeface="Arial" pitchFamily="34" charset="0"/>
                <a:ea typeface="Arial" pitchFamily="34" charset="-122"/>
                <a:cs typeface="Arial" pitchFamily="34" charset="-120"/>
              </a:rPr>
              <a:t>R23  R24</a:t>
            </a:r>
          </a:p>
        </p:txBody>
      </p:sp>
      <p:sp>
        <p:nvSpPr>
          <p:cNvPr id="58" name="r"/>
          <p:cNvSpPr/>
          <p:nvPr/>
        </p:nvSpPr>
        <p:spPr>
          <a:xfrm>
            <a:off x="6164000" y="2996000"/>
            <a:ext cx="1166000" cy="588000"/>
          </a:xfrm>
          <a:prstGeom prst="rect">
            <a:avLst/>
          </a:prstGeom>
          <a:solidFill>
            <a:srgbClr val="CC4125"/>
          </a:solidFill>
          <a:ln w="19050">
            <a:solidFill>
              <a:srgbClr val="FFFFFF"/>
            </a:solidFill>
          </a:ln>
        </p:spPr>
        <p:txBody>
          <a:bodyPr/>
          <a:lstStyle/>
          <a:p>
            <a:endParaRPr lang="en-US"/>
          </a:p>
        </p:txBody>
      </p:sp>
      <p:sp>
        <p:nvSpPr>
          <p:cNvPr id="59" name="t"/>
          <p:cNvSpPr/>
          <p:nvPr/>
        </p:nvSpPr>
        <p:spPr>
          <a:xfrm>
            <a:off x="6174000" y="3002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FFFFFF"/>
                </a:solidFill>
                <a:latin typeface="Arial" pitchFamily="34" charset="0"/>
                <a:ea typeface="Arial" pitchFamily="34" charset="-122"/>
                <a:cs typeface="Arial" pitchFamily="34" charset="-120"/>
              </a:rPr>
              <a:t>54</a:t>
            </a:r>
          </a:p>
        </p:txBody>
      </p:sp>
      <p:sp>
        <p:nvSpPr>
          <p:cNvPr id="60" name="t"/>
          <p:cNvSpPr/>
          <p:nvPr/>
        </p:nvSpPr>
        <p:spPr>
          <a:xfrm>
            <a:off x="6172000" y="3146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FFFFFF"/>
                </a:solidFill>
                <a:latin typeface="Arial" pitchFamily="34" charset="0"/>
                <a:ea typeface="Arial" pitchFamily="34" charset="-122"/>
                <a:cs typeface="Arial" pitchFamily="34" charset="-120"/>
              </a:rPr>
              <a:t>R25</a:t>
            </a:r>
          </a:p>
        </p:txBody>
      </p:sp>
      <p:sp>
        <p:nvSpPr>
          <p:cNvPr id="61" name="r"/>
          <p:cNvSpPr/>
          <p:nvPr/>
        </p:nvSpPr>
        <p:spPr>
          <a:xfrm>
            <a:off x="1500000" y="3584000"/>
            <a:ext cx="1166000" cy="588000"/>
          </a:xfrm>
          <a:prstGeom prst="rect">
            <a:avLst/>
          </a:prstGeom>
          <a:solidFill>
            <a:srgbClr val="AECE8E"/>
          </a:solidFill>
          <a:ln w="19050">
            <a:solidFill>
              <a:srgbClr val="FFFFFF"/>
            </a:solidFill>
          </a:ln>
        </p:spPr>
        <p:txBody>
          <a:bodyPr/>
          <a:lstStyle/>
          <a:p>
            <a:endParaRPr lang="en-US"/>
          </a:p>
        </p:txBody>
      </p:sp>
      <p:sp>
        <p:nvSpPr>
          <p:cNvPr id="62" name="t"/>
          <p:cNvSpPr/>
          <p:nvPr/>
        </p:nvSpPr>
        <p:spPr>
          <a:xfrm>
            <a:off x="1510000" y="3590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4</a:t>
            </a:r>
          </a:p>
        </p:txBody>
      </p:sp>
      <p:sp>
        <p:nvSpPr>
          <p:cNvPr id="63" name="r"/>
          <p:cNvSpPr/>
          <p:nvPr/>
        </p:nvSpPr>
        <p:spPr>
          <a:xfrm>
            <a:off x="2666000" y="3584000"/>
            <a:ext cx="1166000" cy="588000"/>
          </a:xfrm>
          <a:prstGeom prst="rect">
            <a:avLst/>
          </a:prstGeom>
          <a:solidFill>
            <a:srgbClr val="AECE8E"/>
          </a:solidFill>
          <a:ln w="19050">
            <a:solidFill>
              <a:srgbClr val="FFFFFF"/>
            </a:solidFill>
          </a:ln>
        </p:spPr>
        <p:txBody>
          <a:bodyPr/>
          <a:lstStyle/>
          <a:p>
            <a:endParaRPr lang="en-US"/>
          </a:p>
        </p:txBody>
      </p:sp>
      <p:sp>
        <p:nvSpPr>
          <p:cNvPr id="64" name="t"/>
          <p:cNvSpPr/>
          <p:nvPr/>
        </p:nvSpPr>
        <p:spPr>
          <a:xfrm>
            <a:off x="2676000" y="3590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12</a:t>
            </a:r>
          </a:p>
        </p:txBody>
      </p:sp>
      <p:sp>
        <p:nvSpPr>
          <p:cNvPr id="65" name="r"/>
          <p:cNvSpPr/>
          <p:nvPr/>
        </p:nvSpPr>
        <p:spPr>
          <a:xfrm>
            <a:off x="3832000" y="3584000"/>
            <a:ext cx="1166000" cy="588000"/>
          </a:xfrm>
          <a:prstGeom prst="rect">
            <a:avLst/>
          </a:prstGeom>
          <a:solidFill>
            <a:srgbClr val="F4CE5E"/>
          </a:solidFill>
          <a:ln w="19050">
            <a:solidFill>
              <a:srgbClr val="FFFFFF"/>
            </a:solidFill>
          </a:ln>
        </p:spPr>
        <p:txBody>
          <a:bodyPr/>
          <a:lstStyle/>
          <a:p>
            <a:endParaRPr lang="en-US"/>
          </a:p>
        </p:txBody>
      </p:sp>
      <p:sp>
        <p:nvSpPr>
          <p:cNvPr id="66" name="t"/>
          <p:cNvSpPr/>
          <p:nvPr/>
        </p:nvSpPr>
        <p:spPr>
          <a:xfrm>
            <a:off x="3842000" y="3590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20</a:t>
            </a:r>
          </a:p>
        </p:txBody>
      </p:sp>
      <p:sp>
        <p:nvSpPr>
          <p:cNvPr id="67" name="t"/>
          <p:cNvSpPr/>
          <p:nvPr/>
        </p:nvSpPr>
        <p:spPr>
          <a:xfrm>
            <a:off x="3840000" y="3734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232F3E"/>
                </a:solidFill>
                <a:latin typeface="Arial" pitchFamily="34" charset="0"/>
                <a:ea typeface="Arial" pitchFamily="34" charset="-122"/>
                <a:cs typeface="Arial" pitchFamily="34" charset="-120"/>
              </a:rPr>
              <a:t>R21</a:t>
            </a:r>
          </a:p>
        </p:txBody>
      </p:sp>
      <p:sp>
        <p:nvSpPr>
          <p:cNvPr id="68" name="r"/>
          <p:cNvSpPr/>
          <p:nvPr/>
        </p:nvSpPr>
        <p:spPr>
          <a:xfrm>
            <a:off x="4998000" y="3584000"/>
            <a:ext cx="1166000" cy="588000"/>
          </a:xfrm>
          <a:prstGeom prst="rect">
            <a:avLst/>
          </a:prstGeom>
          <a:solidFill>
            <a:srgbClr val="F4CE5E"/>
          </a:solidFill>
          <a:ln w="19050">
            <a:solidFill>
              <a:srgbClr val="FFFFFF"/>
            </a:solidFill>
          </a:ln>
        </p:spPr>
        <p:txBody>
          <a:bodyPr/>
          <a:lstStyle/>
          <a:p>
            <a:endParaRPr lang="en-US"/>
          </a:p>
        </p:txBody>
      </p:sp>
      <p:sp>
        <p:nvSpPr>
          <p:cNvPr id="69" name="t"/>
          <p:cNvSpPr/>
          <p:nvPr/>
        </p:nvSpPr>
        <p:spPr>
          <a:xfrm>
            <a:off x="5008000" y="3590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28</a:t>
            </a:r>
          </a:p>
        </p:txBody>
      </p:sp>
      <p:sp>
        <p:nvSpPr>
          <p:cNvPr id="70" name="t"/>
          <p:cNvSpPr/>
          <p:nvPr/>
        </p:nvSpPr>
        <p:spPr>
          <a:xfrm>
            <a:off x="5006000" y="3734000"/>
            <a:ext cx="1150000" cy="438000"/>
          </a:xfrm>
          <a:prstGeom prst="rect">
            <a:avLst/>
          </a:prstGeom>
          <a:noFill/>
          <a:ln/>
        </p:spPr>
        <p:txBody>
          <a:bodyPr wrap="square" lIns="36000" tIns="18000" rIns="36000" bIns="18000" rtlCol="0" anchor="ctr"/>
          <a:lstStyle/>
          <a:p>
            <a:pPr marL="0" indent="0" algn="ctr">
              <a:lnSpc>
                <a:spcPts val="850"/>
              </a:lnSpc>
              <a:buNone/>
            </a:pPr>
            <a:r>
              <a:rPr lang="en-US" sz="750" b="1" kern="0" dirty="0">
                <a:solidFill>
                  <a:srgbClr val="232F3E"/>
                </a:solidFill>
                <a:latin typeface="Arial" pitchFamily="34" charset="0"/>
                <a:ea typeface="Arial" pitchFamily="34" charset="-122"/>
                <a:cs typeface="Arial" pitchFamily="34" charset="-120"/>
              </a:rPr>
              <a:t>R4</a:t>
            </a:r>
          </a:p>
        </p:txBody>
      </p:sp>
      <p:sp>
        <p:nvSpPr>
          <p:cNvPr id="71" name="r"/>
          <p:cNvSpPr/>
          <p:nvPr/>
        </p:nvSpPr>
        <p:spPr>
          <a:xfrm>
            <a:off x="6164000" y="3584000"/>
            <a:ext cx="1166000" cy="588000"/>
          </a:xfrm>
          <a:prstGeom prst="rect">
            <a:avLst/>
          </a:prstGeom>
          <a:solidFill>
            <a:srgbClr val="F4CE5E"/>
          </a:solidFill>
          <a:ln w="19050">
            <a:solidFill>
              <a:srgbClr val="FFFFFF"/>
            </a:solidFill>
          </a:ln>
        </p:spPr>
        <p:txBody>
          <a:bodyPr/>
          <a:lstStyle/>
          <a:p>
            <a:endParaRPr lang="en-US"/>
          </a:p>
        </p:txBody>
      </p:sp>
      <p:sp>
        <p:nvSpPr>
          <p:cNvPr id="72" name="t"/>
          <p:cNvSpPr/>
          <p:nvPr/>
        </p:nvSpPr>
        <p:spPr>
          <a:xfrm>
            <a:off x="6174000" y="3590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36</a:t>
            </a:r>
          </a:p>
        </p:txBody>
      </p:sp>
      <p:sp>
        <p:nvSpPr>
          <p:cNvPr id="73" name="r"/>
          <p:cNvSpPr/>
          <p:nvPr/>
        </p:nvSpPr>
        <p:spPr>
          <a:xfrm>
            <a:off x="1500000" y="4172000"/>
            <a:ext cx="1166000" cy="588000"/>
          </a:xfrm>
          <a:prstGeom prst="rect">
            <a:avLst/>
          </a:prstGeom>
          <a:solidFill>
            <a:srgbClr val="AECE8E"/>
          </a:solidFill>
          <a:ln w="19050">
            <a:solidFill>
              <a:srgbClr val="FFFFFF"/>
            </a:solidFill>
          </a:ln>
        </p:spPr>
        <p:txBody>
          <a:bodyPr/>
          <a:lstStyle/>
          <a:p>
            <a:endParaRPr lang="en-US"/>
          </a:p>
        </p:txBody>
      </p:sp>
      <p:sp>
        <p:nvSpPr>
          <p:cNvPr id="74" name="t"/>
          <p:cNvSpPr/>
          <p:nvPr/>
        </p:nvSpPr>
        <p:spPr>
          <a:xfrm>
            <a:off x="1510000" y="4178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2</a:t>
            </a:r>
          </a:p>
        </p:txBody>
      </p:sp>
      <p:sp>
        <p:nvSpPr>
          <p:cNvPr id="75" name="r"/>
          <p:cNvSpPr/>
          <p:nvPr/>
        </p:nvSpPr>
        <p:spPr>
          <a:xfrm>
            <a:off x="2666000" y="4172000"/>
            <a:ext cx="1166000" cy="588000"/>
          </a:xfrm>
          <a:prstGeom prst="rect">
            <a:avLst/>
          </a:prstGeom>
          <a:solidFill>
            <a:srgbClr val="AECE8E"/>
          </a:solidFill>
          <a:ln w="19050">
            <a:solidFill>
              <a:srgbClr val="FFFFFF"/>
            </a:solidFill>
          </a:ln>
        </p:spPr>
        <p:txBody>
          <a:bodyPr/>
          <a:lstStyle/>
          <a:p>
            <a:endParaRPr lang="en-US"/>
          </a:p>
        </p:txBody>
      </p:sp>
      <p:sp>
        <p:nvSpPr>
          <p:cNvPr id="76" name="t"/>
          <p:cNvSpPr/>
          <p:nvPr/>
        </p:nvSpPr>
        <p:spPr>
          <a:xfrm>
            <a:off x="2676000" y="4178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6</a:t>
            </a:r>
          </a:p>
        </p:txBody>
      </p:sp>
      <p:sp>
        <p:nvSpPr>
          <p:cNvPr id="77" name="r"/>
          <p:cNvSpPr/>
          <p:nvPr/>
        </p:nvSpPr>
        <p:spPr>
          <a:xfrm>
            <a:off x="3832000" y="4172000"/>
            <a:ext cx="1166000" cy="588000"/>
          </a:xfrm>
          <a:prstGeom prst="rect">
            <a:avLst/>
          </a:prstGeom>
          <a:solidFill>
            <a:srgbClr val="AECE8E"/>
          </a:solidFill>
          <a:ln w="19050">
            <a:solidFill>
              <a:srgbClr val="FFFFFF"/>
            </a:solidFill>
          </a:ln>
        </p:spPr>
        <p:txBody>
          <a:bodyPr/>
          <a:lstStyle/>
          <a:p>
            <a:endParaRPr lang="en-US"/>
          </a:p>
        </p:txBody>
      </p:sp>
      <p:sp>
        <p:nvSpPr>
          <p:cNvPr id="78" name="t"/>
          <p:cNvSpPr/>
          <p:nvPr/>
        </p:nvSpPr>
        <p:spPr>
          <a:xfrm>
            <a:off x="3842000" y="4178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10</a:t>
            </a:r>
          </a:p>
        </p:txBody>
      </p:sp>
      <p:sp>
        <p:nvSpPr>
          <p:cNvPr id="79" name="r"/>
          <p:cNvSpPr/>
          <p:nvPr/>
        </p:nvSpPr>
        <p:spPr>
          <a:xfrm>
            <a:off x="4998000" y="4172000"/>
            <a:ext cx="1166000" cy="588000"/>
          </a:xfrm>
          <a:prstGeom prst="rect">
            <a:avLst/>
          </a:prstGeom>
          <a:solidFill>
            <a:srgbClr val="AECE8E"/>
          </a:solidFill>
          <a:ln w="19050">
            <a:solidFill>
              <a:srgbClr val="FFFFFF"/>
            </a:solidFill>
          </a:ln>
        </p:spPr>
        <p:txBody>
          <a:bodyPr/>
          <a:lstStyle/>
          <a:p>
            <a:endParaRPr lang="en-US"/>
          </a:p>
        </p:txBody>
      </p:sp>
      <p:sp>
        <p:nvSpPr>
          <p:cNvPr id="80" name="t"/>
          <p:cNvSpPr/>
          <p:nvPr/>
        </p:nvSpPr>
        <p:spPr>
          <a:xfrm>
            <a:off x="5008000" y="4178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14</a:t>
            </a:r>
          </a:p>
        </p:txBody>
      </p:sp>
      <p:sp>
        <p:nvSpPr>
          <p:cNvPr id="81" name="r"/>
          <p:cNvSpPr/>
          <p:nvPr/>
        </p:nvSpPr>
        <p:spPr>
          <a:xfrm>
            <a:off x="6164000" y="4172000"/>
            <a:ext cx="1166000" cy="588000"/>
          </a:xfrm>
          <a:prstGeom prst="rect">
            <a:avLst/>
          </a:prstGeom>
          <a:solidFill>
            <a:srgbClr val="F4CE5E"/>
          </a:solidFill>
          <a:ln w="19050">
            <a:solidFill>
              <a:srgbClr val="FFFFFF"/>
            </a:solidFill>
          </a:ln>
        </p:spPr>
        <p:txBody>
          <a:bodyPr/>
          <a:lstStyle/>
          <a:p>
            <a:endParaRPr lang="en-US"/>
          </a:p>
        </p:txBody>
      </p:sp>
      <p:sp>
        <p:nvSpPr>
          <p:cNvPr id="82" name="t"/>
          <p:cNvSpPr/>
          <p:nvPr/>
        </p:nvSpPr>
        <p:spPr>
          <a:xfrm>
            <a:off x="6174000" y="4178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18</a:t>
            </a:r>
          </a:p>
        </p:txBody>
      </p:sp>
      <p:sp>
        <p:nvSpPr>
          <p:cNvPr id="83" name="r"/>
          <p:cNvSpPr/>
          <p:nvPr/>
        </p:nvSpPr>
        <p:spPr>
          <a:xfrm>
            <a:off x="1500000" y="4760000"/>
            <a:ext cx="1166000" cy="588000"/>
          </a:xfrm>
          <a:prstGeom prst="rect">
            <a:avLst/>
          </a:prstGeom>
          <a:solidFill>
            <a:srgbClr val="AECE8E"/>
          </a:solidFill>
          <a:ln w="19050">
            <a:solidFill>
              <a:srgbClr val="FFFFFF"/>
            </a:solidFill>
          </a:ln>
        </p:spPr>
        <p:txBody>
          <a:bodyPr/>
          <a:lstStyle/>
          <a:p>
            <a:endParaRPr lang="en-US"/>
          </a:p>
        </p:txBody>
      </p:sp>
      <p:sp>
        <p:nvSpPr>
          <p:cNvPr id="84" name="t"/>
          <p:cNvSpPr/>
          <p:nvPr/>
        </p:nvSpPr>
        <p:spPr>
          <a:xfrm>
            <a:off x="1510000" y="476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1</a:t>
            </a:r>
          </a:p>
        </p:txBody>
      </p:sp>
      <p:sp>
        <p:nvSpPr>
          <p:cNvPr id="85" name="r"/>
          <p:cNvSpPr/>
          <p:nvPr/>
        </p:nvSpPr>
        <p:spPr>
          <a:xfrm>
            <a:off x="2666000" y="4760000"/>
            <a:ext cx="1166000" cy="588000"/>
          </a:xfrm>
          <a:prstGeom prst="rect">
            <a:avLst/>
          </a:prstGeom>
          <a:solidFill>
            <a:srgbClr val="AECE8E"/>
          </a:solidFill>
          <a:ln w="19050">
            <a:solidFill>
              <a:srgbClr val="FFFFFF"/>
            </a:solidFill>
          </a:ln>
        </p:spPr>
        <p:txBody>
          <a:bodyPr/>
          <a:lstStyle/>
          <a:p>
            <a:endParaRPr lang="en-US"/>
          </a:p>
        </p:txBody>
      </p:sp>
      <p:sp>
        <p:nvSpPr>
          <p:cNvPr id="86" name="t"/>
          <p:cNvSpPr/>
          <p:nvPr/>
        </p:nvSpPr>
        <p:spPr>
          <a:xfrm>
            <a:off x="2676000" y="476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3</a:t>
            </a:r>
          </a:p>
        </p:txBody>
      </p:sp>
      <p:sp>
        <p:nvSpPr>
          <p:cNvPr id="87" name="r"/>
          <p:cNvSpPr/>
          <p:nvPr/>
        </p:nvSpPr>
        <p:spPr>
          <a:xfrm>
            <a:off x="3832000" y="4760000"/>
            <a:ext cx="1166000" cy="588000"/>
          </a:xfrm>
          <a:prstGeom prst="rect">
            <a:avLst/>
          </a:prstGeom>
          <a:solidFill>
            <a:srgbClr val="AECE8E"/>
          </a:solidFill>
          <a:ln w="19050">
            <a:solidFill>
              <a:srgbClr val="FFFFFF"/>
            </a:solidFill>
          </a:ln>
        </p:spPr>
        <p:txBody>
          <a:bodyPr/>
          <a:lstStyle/>
          <a:p>
            <a:endParaRPr lang="en-US"/>
          </a:p>
        </p:txBody>
      </p:sp>
      <p:sp>
        <p:nvSpPr>
          <p:cNvPr id="88" name="t"/>
          <p:cNvSpPr/>
          <p:nvPr/>
        </p:nvSpPr>
        <p:spPr>
          <a:xfrm>
            <a:off x="3842000" y="476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5</a:t>
            </a:r>
          </a:p>
        </p:txBody>
      </p:sp>
      <p:sp>
        <p:nvSpPr>
          <p:cNvPr id="89" name="r"/>
          <p:cNvSpPr/>
          <p:nvPr/>
        </p:nvSpPr>
        <p:spPr>
          <a:xfrm>
            <a:off x="4998000" y="4760000"/>
            <a:ext cx="1166000" cy="588000"/>
          </a:xfrm>
          <a:prstGeom prst="rect">
            <a:avLst/>
          </a:prstGeom>
          <a:solidFill>
            <a:srgbClr val="AECE8E"/>
          </a:solidFill>
          <a:ln w="19050">
            <a:solidFill>
              <a:srgbClr val="FFFFFF"/>
            </a:solidFill>
          </a:ln>
        </p:spPr>
        <p:txBody>
          <a:bodyPr/>
          <a:lstStyle/>
          <a:p>
            <a:endParaRPr lang="en-US"/>
          </a:p>
        </p:txBody>
      </p:sp>
      <p:sp>
        <p:nvSpPr>
          <p:cNvPr id="90" name="t"/>
          <p:cNvSpPr/>
          <p:nvPr/>
        </p:nvSpPr>
        <p:spPr>
          <a:xfrm>
            <a:off x="5008000" y="476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7</a:t>
            </a:r>
          </a:p>
        </p:txBody>
      </p:sp>
      <p:sp>
        <p:nvSpPr>
          <p:cNvPr id="91" name="r"/>
          <p:cNvSpPr/>
          <p:nvPr/>
        </p:nvSpPr>
        <p:spPr>
          <a:xfrm>
            <a:off x="6164000" y="4760000"/>
            <a:ext cx="1166000" cy="588000"/>
          </a:xfrm>
          <a:prstGeom prst="rect">
            <a:avLst/>
          </a:prstGeom>
          <a:solidFill>
            <a:srgbClr val="AECE8E"/>
          </a:solidFill>
          <a:ln w="19050">
            <a:solidFill>
              <a:srgbClr val="FFFFFF"/>
            </a:solidFill>
          </a:ln>
        </p:spPr>
        <p:txBody>
          <a:bodyPr/>
          <a:lstStyle/>
          <a:p>
            <a:endParaRPr lang="en-US"/>
          </a:p>
        </p:txBody>
      </p:sp>
      <p:sp>
        <p:nvSpPr>
          <p:cNvPr id="92" name="t"/>
          <p:cNvSpPr/>
          <p:nvPr/>
        </p:nvSpPr>
        <p:spPr>
          <a:xfrm>
            <a:off x="6174000" y="4766000"/>
            <a:ext cx="1146000" cy="200000"/>
          </a:xfrm>
          <a:prstGeom prst="rect">
            <a:avLst/>
          </a:prstGeom>
          <a:noFill/>
          <a:ln/>
        </p:spPr>
        <p:txBody>
          <a:bodyPr wrap="square" lIns="36000" tIns="18000" rIns="36000" bIns="18000" rtlCol="0" anchor="t"/>
          <a:lstStyle/>
          <a:p>
            <a:pPr marL="0" indent="0" algn="l">
              <a:lnSpc>
                <a:spcPts val="800"/>
              </a:lnSpc>
              <a:buNone/>
            </a:pPr>
            <a:r>
              <a:rPr lang="en-US" sz="750" b="1" kern="0" dirty="0">
                <a:solidFill>
                  <a:srgbClr val="232F3E"/>
                </a:solidFill>
                <a:latin typeface="Arial" pitchFamily="34" charset="0"/>
                <a:ea typeface="Arial" pitchFamily="34" charset="-122"/>
                <a:cs typeface="Arial" pitchFamily="34" charset="-120"/>
              </a:rPr>
              <a:t>9</a:t>
            </a:r>
          </a:p>
        </p:txBody>
      </p:sp>
      <p:sp>
        <p:nvSpPr>
          <p:cNvPr id="93" name="t"/>
          <p:cNvSpPr/>
          <p:nvPr/>
        </p:nvSpPr>
        <p:spPr>
          <a:xfrm>
            <a:off x="1500000" y="5368000"/>
            <a:ext cx="1166000" cy="360000"/>
          </a:xfrm>
          <a:prstGeom prst="rect">
            <a:avLst/>
          </a:prstGeom>
          <a:noFill/>
          <a:ln/>
        </p:spPr>
        <p:txBody>
          <a:bodyPr wrap="square" lIns="36000" tIns="18000" rIns="36000" bIns="18000" rtlCol="0" anchor="t"/>
          <a:lstStyle/>
          <a:p>
            <a:pPr marL="0" indent="0" algn="ctr">
              <a:lnSpc>
                <a:spcPts val="1000"/>
              </a:lnSpc>
              <a:buNone/>
            </a:pPr>
            <a:r>
              <a:rPr lang="en-US" sz="900" b="1" kern="0" dirty="0">
                <a:solidFill>
                  <a:srgbClr val="232F3E"/>
                </a:solidFill>
                <a:latin typeface="Arial" pitchFamily="34" charset="0"/>
                <a:ea typeface="Arial" pitchFamily="34" charset="-122"/>
                <a:cs typeface="Arial" pitchFamily="34" charset="-120"/>
              </a:rPr>
              <a:t>1</a:t>
            </a:r>
          </a:p>
          <a:p>
            <a:pPr marL="0" indent="0" algn="ctr">
              <a:lnSpc>
                <a:spcPts val="820"/>
              </a:lnSpc>
              <a:buNone/>
            </a:pPr>
            <a:r>
              <a:rPr lang="en-US" sz="700" kern="0" dirty="0">
                <a:solidFill>
                  <a:srgbClr val="5A6470"/>
                </a:solidFill>
                <a:latin typeface="Arial" pitchFamily="34" charset="0"/>
                <a:ea typeface="Arial" pitchFamily="34" charset="-122"/>
                <a:cs typeface="Arial" pitchFamily="34" charset="-120"/>
              </a:rPr>
              <a:t>Very Unlikely</a:t>
            </a:r>
          </a:p>
        </p:txBody>
      </p:sp>
      <p:sp>
        <p:nvSpPr>
          <p:cNvPr id="94" name="t"/>
          <p:cNvSpPr/>
          <p:nvPr/>
        </p:nvSpPr>
        <p:spPr>
          <a:xfrm>
            <a:off x="2666000" y="5368000"/>
            <a:ext cx="1166000" cy="360000"/>
          </a:xfrm>
          <a:prstGeom prst="rect">
            <a:avLst/>
          </a:prstGeom>
          <a:noFill/>
          <a:ln/>
        </p:spPr>
        <p:txBody>
          <a:bodyPr wrap="square" lIns="36000" tIns="18000" rIns="36000" bIns="18000" rtlCol="0" anchor="t"/>
          <a:lstStyle/>
          <a:p>
            <a:pPr marL="0" indent="0" algn="ctr">
              <a:lnSpc>
                <a:spcPts val="1000"/>
              </a:lnSpc>
              <a:buNone/>
            </a:pPr>
            <a:r>
              <a:rPr lang="en-US" sz="900" b="1" kern="0" dirty="0">
                <a:solidFill>
                  <a:srgbClr val="232F3E"/>
                </a:solidFill>
                <a:latin typeface="Arial" pitchFamily="34" charset="0"/>
                <a:ea typeface="Arial" pitchFamily="34" charset="-122"/>
                <a:cs typeface="Arial" pitchFamily="34" charset="-120"/>
              </a:rPr>
              <a:t>3</a:t>
            </a:r>
          </a:p>
          <a:p>
            <a:pPr marL="0" indent="0" algn="ctr">
              <a:lnSpc>
                <a:spcPts val="820"/>
              </a:lnSpc>
              <a:buNone/>
            </a:pPr>
            <a:r>
              <a:rPr lang="en-US" sz="700" kern="0" dirty="0">
                <a:solidFill>
                  <a:srgbClr val="5A6470"/>
                </a:solidFill>
                <a:latin typeface="Arial" pitchFamily="34" charset="0"/>
                <a:ea typeface="Arial" pitchFamily="34" charset="-122"/>
                <a:cs typeface="Arial" pitchFamily="34" charset="-120"/>
              </a:rPr>
              <a:t>Somewhat Unlikely</a:t>
            </a:r>
          </a:p>
        </p:txBody>
      </p:sp>
      <p:sp>
        <p:nvSpPr>
          <p:cNvPr id="95" name="t"/>
          <p:cNvSpPr/>
          <p:nvPr/>
        </p:nvSpPr>
        <p:spPr>
          <a:xfrm>
            <a:off x="3832000" y="5368000"/>
            <a:ext cx="1166000" cy="360000"/>
          </a:xfrm>
          <a:prstGeom prst="rect">
            <a:avLst/>
          </a:prstGeom>
          <a:noFill/>
          <a:ln/>
        </p:spPr>
        <p:txBody>
          <a:bodyPr wrap="square" lIns="36000" tIns="18000" rIns="36000" bIns="18000" rtlCol="0" anchor="t"/>
          <a:lstStyle/>
          <a:p>
            <a:pPr marL="0" indent="0" algn="ctr">
              <a:lnSpc>
                <a:spcPts val="1000"/>
              </a:lnSpc>
              <a:buNone/>
            </a:pPr>
            <a:r>
              <a:rPr lang="en-US" sz="900" b="1" kern="0" dirty="0">
                <a:solidFill>
                  <a:srgbClr val="232F3E"/>
                </a:solidFill>
                <a:latin typeface="Arial" pitchFamily="34" charset="0"/>
                <a:ea typeface="Arial" pitchFamily="34" charset="-122"/>
                <a:cs typeface="Arial" pitchFamily="34" charset="-120"/>
              </a:rPr>
              <a:t>5</a:t>
            </a:r>
          </a:p>
          <a:p>
            <a:pPr marL="0" indent="0" algn="ctr">
              <a:lnSpc>
                <a:spcPts val="820"/>
              </a:lnSpc>
              <a:buNone/>
            </a:pPr>
            <a:r>
              <a:rPr lang="en-US" sz="700" kern="0" dirty="0">
                <a:solidFill>
                  <a:srgbClr val="5A6470"/>
                </a:solidFill>
                <a:latin typeface="Arial" pitchFamily="34" charset="0"/>
                <a:ea typeface="Arial" pitchFamily="34" charset="-122"/>
                <a:cs typeface="Arial" pitchFamily="34" charset="-120"/>
              </a:rPr>
              <a:t>50–50</a:t>
            </a:r>
          </a:p>
        </p:txBody>
      </p:sp>
      <p:sp>
        <p:nvSpPr>
          <p:cNvPr id="96" name="t"/>
          <p:cNvSpPr/>
          <p:nvPr/>
        </p:nvSpPr>
        <p:spPr>
          <a:xfrm>
            <a:off x="4998000" y="5368000"/>
            <a:ext cx="1166000" cy="360000"/>
          </a:xfrm>
          <a:prstGeom prst="rect">
            <a:avLst/>
          </a:prstGeom>
          <a:noFill/>
          <a:ln/>
        </p:spPr>
        <p:txBody>
          <a:bodyPr wrap="square" lIns="36000" tIns="18000" rIns="36000" bIns="18000" rtlCol="0" anchor="t"/>
          <a:lstStyle/>
          <a:p>
            <a:pPr marL="0" indent="0" algn="ctr">
              <a:lnSpc>
                <a:spcPts val="1000"/>
              </a:lnSpc>
              <a:buNone/>
            </a:pPr>
            <a:r>
              <a:rPr lang="en-US" sz="900" b="1" kern="0" dirty="0">
                <a:solidFill>
                  <a:srgbClr val="232F3E"/>
                </a:solidFill>
                <a:latin typeface="Arial" pitchFamily="34" charset="0"/>
                <a:ea typeface="Arial" pitchFamily="34" charset="-122"/>
                <a:cs typeface="Arial" pitchFamily="34" charset="-120"/>
              </a:rPr>
              <a:t>7</a:t>
            </a:r>
          </a:p>
          <a:p>
            <a:pPr marL="0" indent="0" algn="ctr">
              <a:lnSpc>
                <a:spcPts val="820"/>
              </a:lnSpc>
              <a:buNone/>
            </a:pPr>
            <a:r>
              <a:rPr lang="en-US" sz="700" kern="0" dirty="0">
                <a:solidFill>
                  <a:srgbClr val="5A6470"/>
                </a:solidFill>
                <a:latin typeface="Arial" pitchFamily="34" charset="0"/>
                <a:ea typeface="Arial" pitchFamily="34" charset="-122"/>
                <a:cs typeface="Arial" pitchFamily="34" charset="-120"/>
              </a:rPr>
              <a:t>Somewhat Likely</a:t>
            </a:r>
          </a:p>
        </p:txBody>
      </p:sp>
      <p:sp>
        <p:nvSpPr>
          <p:cNvPr id="97" name="t"/>
          <p:cNvSpPr/>
          <p:nvPr/>
        </p:nvSpPr>
        <p:spPr>
          <a:xfrm>
            <a:off x="6164000" y="5368000"/>
            <a:ext cx="1166000" cy="360000"/>
          </a:xfrm>
          <a:prstGeom prst="rect">
            <a:avLst/>
          </a:prstGeom>
          <a:noFill/>
          <a:ln/>
        </p:spPr>
        <p:txBody>
          <a:bodyPr wrap="square" lIns="36000" tIns="18000" rIns="36000" bIns="18000" rtlCol="0" anchor="t"/>
          <a:lstStyle/>
          <a:p>
            <a:pPr marL="0" indent="0" algn="ctr">
              <a:lnSpc>
                <a:spcPts val="1000"/>
              </a:lnSpc>
              <a:buNone/>
            </a:pPr>
            <a:r>
              <a:rPr lang="en-US" sz="900" b="1" kern="0" dirty="0">
                <a:solidFill>
                  <a:srgbClr val="232F3E"/>
                </a:solidFill>
                <a:latin typeface="Arial" pitchFamily="34" charset="0"/>
                <a:ea typeface="Arial" pitchFamily="34" charset="-122"/>
                <a:cs typeface="Arial" pitchFamily="34" charset="-120"/>
              </a:rPr>
              <a:t>9</a:t>
            </a:r>
          </a:p>
          <a:p>
            <a:pPr marL="0" indent="0" algn="ctr">
              <a:lnSpc>
                <a:spcPts val="820"/>
              </a:lnSpc>
              <a:buNone/>
            </a:pPr>
            <a:r>
              <a:rPr lang="en-US" sz="700" kern="0" dirty="0">
                <a:solidFill>
                  <a:srgbClr val="5A6470"/>
                </a:solidFill>
                <a:latin typeface="Arial" pitchFamily="34" charset="0"/>
                <a:ea typeface="Arial" pitchFamily="34" charset="-122"/>
                <a:cs typeface="Arial" pitchFamily="34" charset="-120"/>
              </a:rPr>
              <a:t>Very Likely</a:t>
            </a:r>
          </a:p>
        </p:txBody>
      </p:sp>
      <p:sp>
        <p:nvSpPr>
          <p:cNvPr id="98" name="t"/>
          <p:cNvSpPr/>
          <p:nvPr/>
        </p:nvSpPr>
        <p:spPr>
          <a:xfrm>
            <a:off x="1500000" y="5748000"/>
            <a:ext cx="5830000" cy="240000"/>
          </a:xfrm>
          <a:prstGeom prst="rect">
            <a:avLst/>
          </a:prstGeom>
          <a:noFill/>
          <a:ln/>
        </p:spPr>
        <p:txBody>
          <a:bodyPr wrap="square" lIns="36000" tIns="18000" rIns="36000" bIns="18000" rtlCol="0" anchor="ctr"/>
          <a:lstStyle/>
          <a:p>
            <a:pPr marL="0" indent="0" algn="ctr">
              <a:buNone/>
            </a:pPr>
            <a:r>
              <a:rPr lang="en-US" sz="1050" b="1" kern="0" dirty="0">
                <a:solidFill>
                  <a:srgbClr val="232F3E"/>
                </a:solidFill>
                <a:latin typeface="Arial" pitchFamily="34" charset="0"/>
                <a:ea typeface="Arial" pitchFamily="34" charset="-122"/>
                <a:cs typeface="Arial" pitchFamily="34" charset="-120"/>
              </a:rPr>
              <a:t>LIKELIHOOD (L)</a:t>
            </a:r>
          </a:p>
        </p:txBody>
      </p:sp>
      <p:sp>
        <p:nvSpPr>
          <p:cNvPr id="99" name="r"/>
          <p:cNvSpPr/>
          <p:nvPr/>
        </p:nvSpPr>
        <p:spPr>
          <a:xfrm>
            <a:off x="1500000" y="6056000"/>
            <a:ext cx="150000" cy="150000"/>
          </a:xfrm>
          <a:prstGeom prst="roundRect">
            <a:avLst>
              <a:gd name="adj" fmla="val 8000"/>
            </a:avLst>
          </a:prstGeom>
          <a:solidFill>
            <a:srgbClr val="CC4125"/>
          </a:solidFill>
          <a:ln>
            <a:noFill/>
          </a:ln>
        </p:spPr>
        <p:txBody>
          <a:bodyPr/>
          <a:lstStyle/>
          <a:p>
            <a:endParaRPr lang="en-US"/>
          </a:p>
        </p:txBody>
      </p:sp>
      <p:sp>
        <p:nvSpPr>
          <p:cNvPr id="100" name="t"/>
          <p:cNvSpPr/>
          <p:nvPr/>
        </p:nvSpPr>
        <p:spPr>
          <a:xfrm>
            <a:off x="1690000" y="6008000"/>
            <a:ext cx="0" cy="260000"/>
          </a:xfrm>
          <a:prstGeom prst="rect">
            <a:avLst/>
          </a:prstGeom>
          <a:noFill/>
          <a:ln/>
        </p:spPr>
        <p:txBody>
          <a:bodyPr wrap="square" lIns="36000" tIns="18000" rIns="36000" bIns="18000" rtlCol="0" anchor="ctr"/>
          <a:lstStyle/>
          <a:p>
            <a:pPr marL="0" indent="0" algn="l">
              <a:buNone/>
            </a:pPr>
            <a:endParaRPr lang="en-US" sz="800" b="1" kern="0" dirty="0">
              <a:solidFill>
                <a:srgbClr val="232F3E"/>
              </a:solidFill>
              <a:latin typeface="Arial" pitchFamily="34" charset="0"/>
              <a:ea typeface="Arial" pitchFamily="34" charset="-122"/>
              <a:cs typeface="Arial" pitchFamily="34" charset="-120"/>
            </a:endParaRPr>
          </a:p>
        </p:txBody>
      </p:sp>
      <p:sp>
        <p:nvSpPr>
          <p:cNvPr id="101" name="r"/>
          <p:cNvSpPr/>
          <p:nvPr/>
        </p:nvSpPr>
        <p:spPr>
          <a:xfrm>
            <a:off x="0" y="6056000"/>
            <a:ext cx="150000" cy="150000"/>
          </a:xfrm>
          <a:prstGeom prst="roundRect">
            <a:avLst>
              <a:gd name="adj" fmla="val 8000"/>
            </a:avLst>
          </a:prstGeom>
          <a:solidFill>
            <a:srgbClr val="E8843C"/>
          </a:solidFill>
          <a:ln>
            <a:noFill/>
          </a:ln>
        </p:spPr>
        <p:txBody>
          <a:bodyPr/>
          <a:lstStyle/>
          <a:p>
            <a:endParaRPr lang="en-US"/>
          </a:p>
        </p:txBody>
      </p:sp>
      <p:sp>
        <p:nvSpPr>
          <p:cNvPr id="102" name="t"/>
          <p:cNvSpPr/>
          <p:nvPr/>
        </p:nvSpPr>
        <p:spPr>
          <a:xfrm>
            <a:off x="0" y="6008000"/>
            <a:ext cx="0" cy="260000"/>
          </a:xfrm>
          <a:prstGeom prst="rect">
            <a:avLst/>
          </a:prstGeom>
          <a:noFill/>
          <a:ln/>
        </p:spPr>
        <p:txBody>
          <a:bodyPr wrap="square" lIns="36000" tIns="18000" rIns="36000" bIns="18000" rtlCol="0" anchor="ctr"/>
          <a:lstStyle/>
          <a:p>
            <a:pPr marL="0" indent="0" algn="l">
              <a:buNone/>
            </a:pPr>
            <a:endParaRPr lang="en-US" sz="800" b="1" kern="0" dirty="0">
              <a:solidFill>
                <a:srgbClr val="232F3E"/>
              </a:solidFill>
              <a:latin typeface="Arial" pitchFamily="34" charset="0"/>
              <a:ea typeface="Arial" pitchFamily="34" charset="-122"/>
              <a:cs typeface="Arial" pitchFamily="34" charset="-120"/>
            </a:endParaRPr>
          </a:p>
        </p:txBody>
      </p:sp>
      <p:sp>
        <p:nvSpPr>
          <p:cNvPr id="103" name="r"/>
          <p:cNvSpPr/>
          <p:nvPr/>
        </p:nvSpPr>
        <p:spPr>
          <a:xfrm>
            <a:off x="0" y="6056000"/>
            <a:ext cx="150000" cy="150000"/>
          </a:xfrm>
          <a:prstGeom prst="roundRect">
            <a:avLst>
              <a:gd name="adj" fmla="val 8000"/>
            </a:avLst>
          </a:prstGeom>
          <a:solidFill>
            <a:srgbClr val="F4CE5E"/>
          </a:solidFill>
          <a:ln>
            <a:noFill/>
          </a:ln>
        </p:spPr>
        <p:txBody>
          <a:bodyPr/>
          <a:lstStyle/>
          <a:p>
            <a:endParaRPr lang="en-US"/>
          </a:p>
        </p:txBody>
      </p:sp>
      <p:sp>
        <p:nvSpPr>
          <p:cNvPr id="105" name="r"/>
          <p:cNvSpPr/>
          <p:nvPr/>
        </p:nvSpPr>
        <p:spPr>
          <a:xfrm>
            <a:off x="0" y="6056000"/>
            <a:ext cx="150000" cy="150000"/>
          </a:xfrm>
          <a:prstGeom prst="roundRect">
            <a:avLst>
              <a:gd name="adj" fmla="val 8000"/>
            </a:avLst>
          </a:prstGeom>
          <a:solidFill>
            <a:srgbClr val="AECE8E"/>
          </a:solidFill>
          <a:ln>
            <a:noFill/>
          </a:ln>
        </p:spPr>
        <p:txBody>
          <a:bodyPr/>
          <a:lstStyle/>
          <a:p>
            <a:endParaRPr lang="en-US"/>
          </a:p>
        </p:txBody>
      </p:sp>
      <p:sp>
        <p:nvSpPr>
          <p:cNvPr id="107" name="r"/>
          <p:cNvSpPr/>
          <p:nvPr/>
        </p:nvSpPr>
        <p:spPr>
          <a:xfrm>
            <a:off x="7600000" y="1820000"/>
            <a:ext cx="4012880" cy="829500"/>
          </a:xfrm>
          <a:prstGeom prst="roundRect">
            <a:avLst>
              <a:gd name="adj" fmla="val 8000"/>
            </a:avLst>
          </a:prstGeom>
          <a:solidFill>
            <a:srgbClr val="F2F3F3"/>
          </a:solidFill>
          <a:ln>
            <a:noFill/>
          </a:ln>
          <a:effectLst>
            <a:outerShdw blurRad="40000" dist="20000" dir="5400000" rotWithShape="0">
              <a:srgbClr val="232F3E">
                <a:alpha val="14000"/>
              </a:srgbClr>
            </a:outerShdw>
          </a:effectLst>
        </p:spPr>
        <p:txBody>
          <a:bodyPr/>
          <a:lstStyle/>
          <a:p>
            <a:endParaRPr lang="en-US"/>
          </a:p>
        </p:txBody>
      </p:sp>
      <p:sp>
        <p:nvSpPr>
          <p:cNvPr id="108" name="r"/>
          <p:cNvSpPr/>
          <p:nvPr/>
        </p:nvSpPr>
        <p:spPr>
          <a:xfrm>
            <a:off x="7720000" y="1955000"/>
            <a:ext cx="70000" cy="70000"/>
          </a:xfrm>
          <a:prstGeom prst="roundRect">
            <a:avLst>
              <a:gd name="adj" fmla="val 8000"/>
            </a:avLst>
          </a:prstGeom>
          <a:solidFill>
            <a:srgbClr val="FF9900"/>
          </a:solidFill>
          <a:ln>
            <a:noFill/>
          </a:ln>
        </p:spPr>
        <p:txBody>
          <a:bodyPr/>
          <a:lstStyle/>
          <a:p>
            <a:endParaRPr lang="en-US"/>
          </a:p>
        </p:txBody>
      </p:sp>
      <p:sp>
        <p:nvSpPr>
          <p:cNvPr id="109" name="t"/>
          <p:cNvSpPr/>
          <p:nvPr/>
        </p:nvSpPr>
        <p:spPr>
          <a:xfrm>
            <a:off x="7860000" y="1890000"/>
            <a:ext cx="3632880" cy="719500"/>
          </a:xfrm>
          <a:prstGeom prst="rect">
            <a:avLst/>
          </a:prstGeom>
          <a:noFill/>
          <a:ln/>
        </p:spPr>
        <p:txBody>
          <a:bodyPr wrap="square" lIns="36000" tIns="18000" rIns="36000" bIns="18000" rtlCol="0" anchor="t"/>
          <a:lstStyle/>
          <a:p>
            <a:pPr marL="0" indent="0" algn="l">
              <a:lnSpc>
                <a:spcPts val="1250"/>
              </a:lnSpc>
              <a:buNone/>
            </a:pPr>
            <a:r>
              <a:rPr lang="en-US" sz="1150" b="1" kern="0" dirty="0">
                <a:solidFill>
                  <a:srgbClr val="232F3E"/>
                </a:solidFill>
                <a:latin typeface="Arial" pitchFamily="34" charset="0"/>
                <a:ea typeface="Arial" pitchFamily="34" charset="-122"/>
                <a:cs typeface="Arial" pitchFamily="34" charset="-120"/>
              </a:rPr>
              <a:t>Summary</a:t>
            </a:r>
          </a:p>
          <a:p>
            <a:pPr marL="0" indent="0" algn="l">
              <a:lnSpc>
                <a:spcPts val="1180"/>
              </a:lnSpc>
              <a:spcBef>
                <a:spcPts val="400"/>
              </a:spcBef>
              <a:buNone/>
            </a:pPr>
            <a:r>
              <a:rPr lang="en-US" sz="950" kern="0" dirty="0">
                <a:solidFill>
                  <a:srgbClr val="5A6470"/>
                </a:solidFill>
                <a:latin typeface="Arial" pitchFamily="34" charset="0"/>
                <a:ea typeface="Arial" pitchFamily="34" charset="-122"/>
                <a:cs typeface="Arial" pitchFamily="34" charset="-120"/>
              </a:rPr>
              <a:t>Score = Likelihood × Impact. Cells run green → red as severity rises; the number in each cell is its risk score (max 81).</a:t>
            </a:r>
          </a:p>
        </p:txBody>
      </p:sp>
      <p:sp>
        <p:nvSpPr>
          <p:cNvPr id="110" name="r"/>
          <p:cNvSpPr/>
          <p:nvPr/>
        </p:nvSpPr>
        <p:spPr>
          <a:xfrm>
            <a:off x="7600000" y="2719500"/>
            <a:ext cx="4012880" cy="829500"/>
          </a:xfrm>
          <a:prstGeom prst="roundRect">
            <a:avLst>
              <a:gd name="adj" fmla="val 8000"/>
            </a:avLst>
          </a:prstGeom>
          <a:solidFill>
            <a:srgbClr val="F2F3F3"/>
          </a:solidFill>
          <a:ln>
            <a:noFill/>
          </a:ln>
          <a:effectLst>
            <a:outerShdw blurRad="40000" dist="20000" dir="5400000" rotWithShape="0">
              <a:srgbClr val="232F3E">
                <a:alpha val="14000"/>
              </a:srgbClr>
            </a:outerShdw>
          </a:effectLst>
        </p:spPr>
        <p:txBody>
          <a:bodyPr/>
          <a:lstStyle/>
          <a:p>
            <a:endParaRPr lang="en-US"/>
          </a:p>
        </p:txBody>
      </p:sp>
      <p:sp>
        <p:nvSpPr>
          <p:cNvPr id="111" name="r"/>
          <p:cNvSpPr/>
          <p:nvPr/>
        </p:nvSpPr>
        <p:spPr>
          <a:xfrm>
            <a:off x="7720000" y="2854500"/>
            <a:ext cx="70000" cy="70000"/>
          </a:xfrm>
          <a:prstGeom prst="roundRect">
            <a:avLst>
              <a:gd name="adj" fmla="val 8000"/>
            </a:avLst>
          </a:prstGeom>
          <a:solidFill>
            <a:srgbClr val="FF9900"/>
          </a:solidFill>
          <a:ln>
            <a:noFill/>
          </a:ln>
        </p:spPr>
        <p:txBody>
          <a:bodyPr/>
          <a:lstStyle/>
          <a:p>
            <a:endParaRPr lang="en-US"/>
          </a:p>
        </p:txBody>
      </p:sp>
      <p:sp>
        <p:nvSpPr>
          <p:cNvPr id="112" name="t"/>
          <p:cNvSpPr/>
          <p:nvPr/>
        </p:nvSpPr>
        <p:spPr>
          <a:xfrm>
            <a:off x="7860000" y="2789500"/>
            <a:ext cx="3632880" cy="719500"/>
          </a:xfrm>
          <a:prstGeom prst="rect">
            <a:avLst/>
          </a:prstGeom>
          <a:noFill/>
          <a:ln/>
        </p:spPr>
        <p:txBody>
          <a:bodyPr wrap="square" lIns="36000" tIns="18000" rIns="36000" bIns="18000" rtlCol="0" anchor="t"/>
          <a:lstStyle/>
          <a:p>
            <a:pPr marL="0" indent="0" algn="l">
              <a:lnSpc>
                <a:spcPts val="1250"/>
              </a:lnSpc>
              <a:buNone/>
            </a:pPr>
            <a:r>
              <a:rPr lang="en-US" sz="1150" b="1" kern="0" dirty="0">
                <a:solidFill>
                  <a:srgbClr val="232F3E"/>
                </a:solidFill>
                <a:latin typeface="Arial" pitchFamily="34" charset="0"/>
                <a:ea typeface="Arial" pitchFamily="34" charset="-122"/>
                <a:cs typeface="Arial" pitchFamily="34" charset="-120"/>
              </a:rPr>
              <a:t>Where the risk sits</a:t>
            </a:r>
          </a:p>
          <a:p>
            <a:pPr marL="0" indent="0" algn="l">
              <a:lnSpc>
                <a:spcPts val="1180"/>
              </a:lnSpc>
              <a:spcBef>
                <a:spcPts val="400"/>
              </a:spcBef>
              <a:buNone/>
            </a:pPr>
            <a:r>
              <a:rPr lang="en-US" sz="950" kern="0" dirty="0">
                <a:solidFill>
                  <a:srgbClr val="5A6470"/>
                </a:solidFill>
                <a:latin typeface="Arial" pitchFamily="34" charset="0"/>
                <a:ea typeface="Arial" pitchFamily="34" charset="-122"/>
                <a:cs typeface="Arial" pitchFamily="34" charset="-120"/>
              </a:rPr>
              <a:t>7 Very High · 11 High · 14 Moderate · 0 Low. The portfolio clusters in the upper-middle of the grid — high-consequence, mid-likelihood — not in the extreme tails.</a:t>
            </a:r>
          </a:p>
        </p:txBody>
      </p:sp>
      <p:sp>
        <p:nvSpPr>
          <p:cNvPr id="113" name="r"/>
          <p:cNvSpPr/>
          <p:nvPr/>
        </p:nvSpPr>
        <p:spPr>
          <a:xfrm>
            <a:off x="7600000" y="3619000"/>
            <a:ext cx="4012880" cy="829500"/>
          </a:xfrm>
          <a:prstGeom prst="roundRect">
            <a:avLst>
              <a:gd name="adj" fmla="val 8000"/>
            </a:avLst>
          </a:prstGeom>
          <a:solidFill>
            <a:srgbClr val="F2F3F3"/>
          </a:solidFill>
          <a:ln>
            <a:noFill/>
          </a:ln>
          <a:effectLst>
            <a:outerShdw blurRad="40000" dist="20000" dir="5400000" rotWithShape="0">
              <a:srgbClr val="232F3E">
                <a:alpha val="14000"/>
              </a:srgbClr>
            </a:outerShdw>
          </a:effectLst>
        </p:spPr>
        <p:txBody>
          <a:bodyPr/>
          <a:lstStyle/>
          <a:p>
            <a:endParaRPr lang="en-US"/>
          </a:p>
        </p:txBody>
      </p:sp>
      <p:sp>
        <p:nvSpPr>
          <p:cNvPr id="114" name="r"/>
          <p:cNvSpPr/>
          <p:nvPr/>
        </p:nvSpPr>
        <p:spPr>
          <a:xfrm>
            <a:off x="7720000" y="3754000"/>
            <a:ext cx="70000" cy="70000"/>
          </a:xfrm>
          <a:prstGeom prst="roundRect">
            <a:avLst>
              <a:gd name="adj" fmla="val 8000"/>
            </a:avLst>
          </a:prstGeom>
          <a:solidFill>
            <a:srgbClr val="FF9900"/>
          </a:solidFill>
          <a:ln>
            <a:noFill/>
          </a:ln>
        </p:spPr>
        <p:txBody>
          <a:bodyPr/>
          <a:lstStyle/>
          <a:p>
            <a:endParaRPr lang="en-US"/>
          </a:p>
        </p:txBody>
      </p:sp>
      <p:sp>
        <p:nvSpPr>
          <p:cNvPr id="115" name="t"/>
          <p:cNvSpPr/>
          <p:nvPr/>
        </p:nvSpPr>
        <p:spPr>
          <a:xfrm>
            <a:off x="7860000" y="3689000"/>
            <a:ext cx="3632880" cy="719500"/>
          </a:xfrm>
          <a:prstGeom prst="rect">
            <a:avLst/>
          </a:prstGeom>
          <a:noFill/>
          <a:ln/>
        </p:spPr>
        <p:txBody>
          <a:bodyPr wrap="square" lIns="36000" tIns="18000" rIns="36000" bIns="18000" rtlCol="0" anchor="t"/>
          <a:lstStyle/>
          <a:p>
            <a:pPr marL="0" indent="0" algn="l">
              <a:lnSpc>
                <a:spcPts val="1250"/>
              </a:lnSpc>
              <a:buNone/>
            </a:pPr>
            <a:r>
              <a:rPr lang="en-US" sz="1150" b="1" kern="0" dirty="0">
                <a:solidFill>
                  <a:srgbClr val="232F3E"/>
                </a:solidFill>
                <a:latin typeface="Arial" pitchFamily="34" charset="0"/>
                <a:ea typeface="Arial" pitchFamily="34" charset="-122"/>
                <a:cs typeface="Arial" pitchFamily="34" charset="-120"/>
              </a:rPr>
              <a:t>Highest-severity cells</a:t>
            </a:r>
          </a:p>
          <a:p>
            <a:pPr marL="0" indent="0" algn="l">
              <a:lnSpc>
                <a:spcPts val="1180"/>
              </a:lnSpc>
              <a:spcBef>
                <a:spcPts val="400"/>
              </a:spcBef>
              <a:buNone/>
            </a:pPr>
            <a:r>
              <a:rPr lang="en-US" sz="950" kern="0" dirty="0">
                <a:solidFill>
                  <a:srgbClr val="5A6470"/>
                </a:solidFill>
                <a:latin typeface="Arial" pitchFamily="34" charset="0"/>
                <a:ea typeface="Arial" pitchFamily="34" charset="-122"/>
                <a:cs typeface="Arial" pitchFamily="34" charset="-120"/>
              </a:rPr>
              <a:t>R7 (peak-operations downtime) and R26 (cost of lagging in AI adoption) occupy the top severity cells — the register’s most urgent exposures.</a:t>
            </a:r>
          </a:p>
        </p:txBody>
      </p:sp>
      <p:sp>
        <p:nvSpPr>
          <p:cNvPr id="116" name="r"/>
          <p:cNvSpPr/>
          <p:nvPr/>
        </p:nvSpPr>
        <p:spPr>
          <a:xfrm>
            <a:off x="7600000" y="4518500"/>
            <a:ext cx="4012880" cy="829500"/>
          </a:xfrm>
          <a:prstGeom prst="roundRect">
            <a:avLst>
              <a:gd name="adj" fmla="val 8000"/>
            </a:avLst>
          </a:prstGeom>
          <a:solidFill>
            <a:srgbClr val="F2F3F3"/>
          </a:solidFill>
          <a:ln>
            <a:noFill/>
          </a:ln>
          <a:effectLst>
            <a:outerShdw blurRad="40000" dist="20000" dir="5400000" rotWithShape="0">
              <a:srgbClr val="232F3E">
                <a:alpha val="14000"/>
              </a:srgbClr>
            </a:outerShdw>
          </a:effectLst>
        </p:spPr>
        <p:txBody>
          <a:bodyPr/>
          <a:lstStyle/>
          <a:p>
            <a:endParaRPr lang="en-US"/>
          </a:p>
        </p:txBody>
      </p:sp>
      <p:sp>
        <p:nvSpPr>
          <p:cNvPr id="117" name="r"/>
          <p:cNvSpPr/>
          <p:nvPr/>
        </p:nvSpPr>
        <p:spPr>
          <a:xfrm>
            <a:off x="7720000" y="4653500"/>
            <a:ext cx="70000" cy="70000"/>
          </a:xfrm>
          <a:prstGeom prst="roundRect">
            <a:avLst>
              <a:gd name="adj" fmla="val 8000"/>
            </a:avLst>
          </a:prstGeom>
          <a:solidFill>
            <a:srgbClr val="FF9900"/>
          </a:solidFill>
          <a:ln>
            <a:noFill/>
          </a:ln>
        </p:spPr>
        <p:txBody>
          <a:bodyPr/>
          <a:lstStyle/>
          <a:p>
            <a:endParaRPr lang="en-US"/>
          </a:p>
        </p:txBody>
      </p:sp>
      <p:sp>
        <p:nvSpPr>
          <p:cNvPr id="118" name="t"/>
          <p:cNvSpPr/>
          <p:nvPr/>
        </p:nvSpPr>
        <p:spPr>
          <a:xfrm>
            <a:off x="7860000" y="4588500"/>
            <a:ext cx="3632880" cy="719500"/>
          </a:xfrm>
          <a:prstGeom prst="rect">
            <a:avLst/>
          </a:prstGeom>
          <a:noFill/>
          <a:ln/>
        </p:spPr>
        <p:txBody>
          <a:bodyPr wrap="square" lIns="36000" tIns="18000" rIns="36000" bIns="18000" rtlCol="0" anchor="t"/>
          <a:lstStyle/>
          <a:p>
            <a:pPr marL="0" indent="0" algn="l">
              <a:lnSpc>
                <a:spcPts val="1250"/>
              </a:lnSpc>
              <a:buNone/>
            </a:pPr>
            <a:r>
              <a:rPr lang="en-US" sz="1150" b="1" kern="0" dirty="0">
                <a:solidFill>
                  <a:srgbClr val="232F3E"/>
                </a:solidFill>
                <a:latin typeface="Arial" pitchFamily="34" charset="0"/>
                <a:ea typeface="Arial" pitchFamily="34" charset="-122"/>
                <a:cs typeface="Arial" pitchFamily="34" charset="-120"/>
              </a:rPr>
              <a:t>Link to the analysis</a:t>
            </a:r>
          </a:p>
          <a:p>
            <a:pPr marL="0" indent="0" algn="l">
              <a:lnSpc>
                <a:spcPts val="1180"/>
              </a:lnSpc>
              <a:spcBef>
                <a:spcPts val="400"/>
              </a:spcBef>
              <a:buNone/>
            </a:pPr>
            <a:r>
              <a:rPr lang="en-US" sz="950" kern="0" dirty="0">
                <a:solidFill>
                  <a:srgbClr val="5A6470"/>
                </a:solidFill>
                <a:latin typeface="Arial" pitchFamily="34" charset="0"/>
                <a:ea typeface="Arial" pitchFamily="34" charset="-122"/>
                <a:cs typeface="Arial" pitchFamily="34" charset="-120"/>
              </a:rPr>
              <a:t>The three priority risks (PR1–PR3) on the next slide are drawn from this register. Four opportunities are tracked in a separate register and are not plotted here.</a:t>
            </a:r>
          </a:p>
        </p:txBody>
      </p:sp>
      <p:sp>
        <p:nvSpPr>
          <p:cNvPr id="119" name="t"/>
          <p:cNvSpPr/>
          <p:nvPr/>
        </p:nvSpPr>
        <p:spPr>
          <a:xfrm>
            <a:off x="548640" y="6473952"/>
            <a:ext cx="11064240" cy="274320"/>
          </a:xfrm>
          <a:prstGeom prst="rect">
            <a:avLst/>
          </a:prstGeom>
          <a:noFill/>
          <a:ln/>
        </p:spPr>
        <p:txBody>
          <a:bodyPr wrap="square" lIns="36000" tIns="18000" rIns="36000" bIns="18000" rtlCol="0" anchor="ctr"/>
          <a:lstStyle/>
          <a:p>
            <a:pPr marL="0" indent="0" algn="l">
              <a:buNone/>
            </a:pPr>
            <a:r>
              <a:rPr lang="en-US" sz="900" kern="0" dirty="0">
                <a:solidFill>
                  <a:srgbClr val="5A6470"/>
                </a:solidFill>
                <a:latin typeface="Arial" pitchFamily="34" charset="0"/>
                <a:ea typeface="Arial" pitchFamily="34" charset="-122"/>
                <a:cs typeface="Arial" pitchFamily="34" charset="-120"/>
              </a:rPr>
              <a:t>  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02 - IDENTIFICATION OF RISKS</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Three Priority Risks Carried to Analysis</a:t>
            </a:r>
            <a:endParaRPr lang="en-US" sz="2600" dirty="0"/>
          </a:p>
        </p:txBody>
      </p:sp>
      <p:sp>
        <p:nvSpPr>
          <p:cNvPr id="4" name="Text 2"/>
          <p:cNvSpPr/>
          <p:nvPr/>
        </p:nvSpPr>
        <p:spPr>
          <a:xfrm>
            <a:off x="548640" y="1371600"/>
            <a:ext cx="11064240" cy="502920"/>
          </a:xfrm>
          <a:prstGeom prst="rect">
            <a:avLst/>
          </a:prstGeom>
          <a:noFill/>
          <a:ln/>
        </p:spPr>
        <p:txBody>
          <a:bodyPr wrap="square" lIns="0" tIns="0" rIns="0" bIns="0" rtlCol="0" anchor="ctr"/>
          <a:lstStyle/>
          <a:p>
            <a:pPr marL="0" indent="0">
              <a:buNone/>
            </a:pPr>
            <a:r>
              <a:rPr lang="en-US" sz="1150" dirty="0">
                <a:solidFill>
                  <a:srgbClr val="5A6470"/>
                </a:solidFill>
                <a:latin typeface="Arial" pitchFamily="34" charset="0"/>
                <a:ea typeface="Arial" pitchFamily="34" charset="-122"/>
                <a:cs typeface="Arial" pitchFamily="34" charset="-120"/>
              </a:rPr>
              <a:t>From a consolidated 32-risk register (7 categories) and a separate 4-opportunity register, three risks were selected for deep quantitative analysis. Labeled PR1–PR3 to avoid clashing with register IDs.</a:t>
            </a:r>
            <a:endParaRPr lang="en-US" sz="1150" dirty="0"/>
          </a:p>
        </p:txBody>
      </p:sp>
      <p:sp>
        <p:nvSpPr>
          <p:cNvPr id="5" name="Shape 3"/>
          <p:cNvSpPr/>
          <p:nvPr/>
        </p:nvSpPr>
        <p:spPr>
          <a:xfrm>
            <a:off x="548640" y="1965960"/>
            <a:ext cx="3535680" cy="416052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6" name="Shape 4"/>
          <p:cNvSpPr/>
          <p:nvPr/>
        </p:nvSpPr>
        <p:spPr>
          <a:xfrm>
            <a:off x="548640" y="1965960"/>
            <a:ext cx="3535680" cy="457200"/>
          </a:xfrm>
          <a:prstGeom prst="roundRect">
            <a:avLst>
              <a:gd name="adj" fmla="val 16000"/>
            </a:avLst>
          </a:prstGeom>
          <a:solidFill>
            <a:srgbClr val="232F3E"/>
          </a:solidFill>
          <a:ln/>
        </p:spPr>
        <p:txBody>
          <a:bodyPr/>
          <a:lstStyle/>
          <a:p>
            <a:endParaRPr lang="en-US"/>
          </a:p>
        </p:txBody>
      </p:sp>
      <p:sp>
        <p:nvSpPr>
          <p:cNvPr id="7" name="Shape 5"/>
          <p:cNvSpPr/>
          <p:nvPr/>
        </p:nvSpPr>
        <p:spPr>
          <a:xfrm>
            <a:off x="548640" y="2194560"/>
            <a:ext cx="3535680" cy="228600"/>
          </a:xfrm>
          <a:prstGeom prst="rect">
            <a:avLst/>
          </a:prstGeom>
          <a:solidFill>
            <a:srgbClr val="232F3E"/>
          </a:solidFill>
          <a:ln/>
        </p:spPr>
        <p:txBody>
          <a:bodyPr/>
          <a:lstStyle/>
          <a:p>
            <a:endParaRPr lang="en-US"/>
          </a:p>
        </p:txBody>
      </p:sp>
      <p:sp>
        <p:nvSpPr>
          <p:cNvPr id="8" name="Text 6"/>
          <p:cNvSpPr/>
          <p:nvPr/>
        </p:nvSpPr>
        <p:spPr>
          <a:xfrm>
            <a:off x="731520" y="1965960"/>
            <a:ext cx="3169920" cy="457200"/>
          </a:xfrm>
          <a:prstGeom prst="rect">
            <a:avLst/>
          </a:prstGeom>
          <a:noFill/>
          <a:ln/>
        </p:spPr>
        <p:txBody>
          <a:bodyPr wrap="square" lIns="0" tIns="0" rIns="0" bIns="0" rtlCol="0" anchor="ctr"/>
          <a:lstStyle/>
          <a:p>
            <a:pPr marL="0" indent="0">
              <a:buNone/>
            </a:pPr>
            <a:r>
              <a:rPr lang="en-US" sz="1000" b="1" kern="0" spc="100" dirty="0">
                <a:solidFill>
                  <a:srgbClr val="FFFFFF"/>
                </a:solidFill>
                <a:latin typeface="Arial" pitchFamily="34" charset="0"/>
                <a:ea typeface="Arial" pitchFamily="34" charset="-122"/>
                <a:cs typeface="Arial" pitchFamily="34" charset="-120"/>
              </a:rPr>
              <a:t>THREAT</a:t>
            </a:r>
            <a:endParaRPr lang="en-US" sz="1000" dirty="0"/>
          </a:p>
        </p:txBody>
      </p:sp>
      <p:sp>
        <p:nvSpPr>
          <p:cNvPr id="9" name="Text 7"/>
          <p:cNvSpPr/>
          <p:nvPr/>
        </p:nvSpPr>
        <p:spPr>
          <a:xfrm>
            <a:off x="731520" y="2532888"/>
            <a:ext cx="3169920" cy="777240"/>
          </a:xfrm>
          <a:prstGeom prst="rect">
            <a:avLst/>
          </a:prstGeom>
          <a:noFill/>
          <a:ln/>
        </p:spPr>
        <p:txBody>
          <a:bodyPr wrap="square" lIns="0" tIns="0" rIns="0" bIns="0" rtlCol="0" anchor="t"/>
          <a:lstStyle/>
          <a:p>
            <a:pPr marL="0" indent="0">
              <a:buNone/>
            </a:pPr>
            <a:r>
              <a:rPr lang="en-US" sz="2200" b="1" dirty="0">
                <a:solidFill>
                  <a:srgbClr val="232F3E"/>
                </a:solidFill>
                <a:latin typeface="Arial" pitchFamily="34" charset="0"/>
                <a:ea typeface="Arial" pitchFamily="34" charset="-122"/>
                <a:cs typeface="Arial" pitchFamily="34" charset="-120"/>
              </a:rPr>
              <a:t>PR1   </a:t>
            </a:r>
            <a:r>
              <a:rPr lang="en-US" sz="1300" b="1" dirty="0">
                <a:solidFill>
                  <a:srgbClr val="232F3E"/>
                </a:solidFill>
                <a:latin typeface="Arial" pitchFamily="34" charset="0"/>
                <a:ea typeface="Arial" pitchFamily="34" charset="-122"/>
                <a:cs typeface="Arial" pitchFamily="34" charset="-120"/>
              </a:rPr>
              <a:t>Commercial Market-Entry / Win-Rate</a:t>
            </a:r>
            <a:endParaRPr lang="en-US" sz="2200" dirty="0"/>
          </a:p>
        </p:txBody>
      </p:sp>
      <p:sp>
        <p:nvSpPr>
          <p:cNvPr id="10" name="Text 8"/>
          <p:cNvSpPr/>
          <p:nvPr/>
        </p:nvSpPr>
        <p:spPr>
          <a:xfrm>
            <a:off x="731520" y="3337560"/>
            <a:ext cx="3169920" cy="320040"/>
          </a:xfrm>
          <a:prstGeom prst="rect">
            <a:avLst/>
          </a:prstGeom>
          <a:noFill/>
          <a:ln/>
        </p:spPr>
        <p:txBody>
          <a:bodyPr wrap="square" lIns="0" tIns="0" rIns="0" bIns="0" rtlCol="0" anchor="ctr"/>
          <a:lstStyle/>
          <a:p>
            <a:pPr marL="0" indent="0">
              <a:buNone/>
            </a:pPr>
            <a:r>
              <a:rPr lang="en-US" sz="1200" b="1" dirty="0">
                <a:solidFill>
                  <a:srgbClr val="232F3E"/>
                </a:solidFill>
                <a:latin typeface="Arial" pitchFamily="34" charset="0"/>
                <a:ea typeface="Arial" pitchFamily="34" charset="-122"/>
                <a:cs typeface="Arial" pitchFamily="34" charset="-120"/>
              </a:rPr>
              <a:t>7 × 6 = 42  (HIGH)</a:t>
            </a:r>
            <a:endParaRPr lang="en-US" sz="1200" dirty="0"/>
          </a:p>
        </p:txBody>
      </p:sp>
      <p:sp>
        <p:nvSpPr>
          <p:cNvPr id="11" name="Text 9"/>
          <p:cNvSpPr/>
          <p:nvPr/>
        </p:nvSpPr>
        <p:spPr>
          <a:xfrm>
            <a:off x="731520" y="3721608"/>
            <a:ext cx="3169920" cy="1691640"/>
          </a:xfrm>
          <a:prstGeom prst="rect">
            <a:avLst/>
          </a:prstGeom>
          <a:noFill/>
          <a:ln/>
        </p:spPr>
        <p:txBody>
          <a:bodyPr wrap="square" lIns="0" tIns="0" rIns="0" bIns="0" rtlCol="0" anchor="t"/>
          <a:lstStyle/>
          <a:p>
            <a:pPr marL="0" indent="0">
              <a:lnSpc>
                <a:spcPct val="102000"/>
              </a:lnSpc>
              <a:buNone/>
            </a:pPr>
            <a:r>
              <a:rPr lang="en-US" sz="1300" dirty="0">
                <a:solidFill>
                  <a:srgbClr val="232F3E"/>
                </a:solidFill>
                <a:latin typeface="Arial" pitchFamily="34" charset="0"/>
                <a:ea typeface="Arial" pitchFamily="34" charset="-122"/>
                <a:cs typeface="Arial" pitchFamily="34" charset="-120"/>
              </a:rPr>
              <a:t>Amazon enters the commercial logistics-software market without a sales-engineering or SLA capability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incumbents (ORION, Surround, Oracle, SAP) leverage lock-in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win-rate &lt; 40%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acquisition ROI erodes.</a:t>
            </a:r>
            <a:endParaRPr lang="en-US" sz="1300" dirty="0"/>
          </a:p>
        </p:txBody>
      </p:sp>
      <p:sp>
        <p:nvSpPr>
          <p:cNvPr id="12" name="Text 10"/>
          <p:cNvSpPr/>
          <p:nvPr/>
        </p:nvSpPr>
        <p:spPr>
          <a:xfrm>
            <a:off x="731520" y="5422392"/>
            <a:ext cx="3169920" cy="640080"/>
          </a:xfrm>
          <a:prstGeom prst="rect">
            <a:avLst/>
          </a:prstGeom>
          <a:noFill/>
          <a:ln/>
        </p:spPr>
        <p:txBody>
          <a:bodyPr wrap="square" lIns="0" tIns="0" rIns="0" bIns="0" rtlCol="0" anchor="t"/>
          <a:lstStyle/>
          <a:p>
            <a:pPr marL="0" indent="0">
              <a:buNone/>
            </a:pPr>
            <a:r>
              <a:rPr lang="en-US" sz="950" i="1" dirty="0">
                <a:solidFill>
                  <a:srgbClr val="5A6470"/>
                </a:solidFill>
                <a:latin typeface="Arial" pitchFamily="34" charset="0"/>
                <a:ea typeface="Arial" pitchFamily="34" charset="-122"/>
                <a:cs typeface="Arial" pitchFamily="34" charset="-120"/>
              </a:rPr>
              <a:t>Edge at stake: the platform’s data from 8M daily stops cannot be sold without enterprise sales capability.</a:t>
            </a:r>
            <a:endParaRPr lang="en-US" sz="950" dirty="0"/>
          </a:p>
        </p:txBody>
      </p:sp>
      <p:sp>
        <p:nvSpPr>
          <p:cNvPr id="13" name="Shape 11"/>
          <p:cNvSpPr/>
          <p:nvPr/>
        </p:nvSpPr>
        <p:spPr>
          <a:xfrm>
            <a:off x="4312920" y="1965960"/>
            <a:ext cx="3535680" cy="416052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4" name="Shape 12"/>
          <p:cNvSpPr/>
          <p:nvPr/>
        </p:nvSpPr>
        <p:spPr>
          <a:xfrm>
            <a:off x="4312920" y="1965960"/>
            <a:ext cx="3535680" cy="457200"/>
          </a:xfrm>
          <a:prstGeom prst="roundRect">
            <a:avLst>
              <a:gd name="adj" fmla="val 16000"/>
            </a:avLst>
          </a:prstGeom>
          <a:solidFill>
            <a:srgbClr val="146EB4"/>
          </a:solidFill>
          <a:ln/>
        </p:spPr>
        <p:txBody>
          <a:bodyPr/>
          <a:lstStyle/>
          <a:p>
            <a:endParaRPr lang="en-US"/>
          </a:p>
        </p:txBody>
      </p:sp>
      <p:sp>
        <p:nvSpPr>
          <p:cNvPr id="15" name="Shape 13"/>
          <p:cNvSpPr/>
          <p:nvPr/>
        </p:nvSpPr>
        <p:spPr>
          <a:xfrm>
            <a:off x="4312920" y="2194560"/>
            <a:ext cx="3535680" cy="228600"/>
          </a:xfrm>
          <a:prstGeom prst="rect">
            <a:avLst/>
          </a:prstGeom>
          <a:solidFill>
            <a:srgbClr val="146EB4"/>
          </a:solidFill>
          <a:ln/>
        </p:spPr>
        <p:txBody>
          <a:bodyPr/>
          <a:lstStyle/>
          <a:p>
            <a:endParaRPr lang="en-US"/>
          </a:p>
        </p:txBody>
      </p:sp>
      <p:sp>
        <p:nvSpPr>
          <p:cNvPr id="16" name="Text 14"/>
          <p:cNvSpPr/>
          <p:nvPr/>
        </p:nvSpPr>
        <p:spPr>
          <a:xfrm>
            <a:off x="4495800" y="1965960"/>
            <a:ext cx="3169920" cy="457200"/>
          </a:xfrm>
          <a:prstGeom prst="rect">
            <a:avLst/>
          </a:prstGeom>
          <a:noFill/>
          <a:ln/>
        </p:spPr>
        <p:txBody>
          <a:bodyPr wrap="square" lIns="0" tIns="0" rIns="0" bIns="0" rtlCol="0" anchor="ctr"/>
          <a:lstStyle/>
          <a:p>
            <a:pPr marL="0" indent="0">
              <a:buNone/>
            </a:pPr>
            <a:r>
              <a:rPr lang="en-US" sz="1000" b="1" kern="0" spc="100" dirty="0">
                <a:solidFill>
                  <a:srgbClr val="FFFFFF"/>
                </a:solidFill>
                <a:latin typeface="Arial" pitchFamily="34" charset="0"/>
                <a:ea typeface="Arial" pitchFamily="34" charset="-122"/>
                <a:cs typeface="Arial" pitchFamily="34" charset="-120"/>
              </a:rPr>
              <a:t>THREAT - HIGHEST TAIL</a:t>
            </a:r>
            <a:endParaRPr lang="en-US" sz="1000" dirty="0"/>
          </a:p>
        </p:txBody>
      </p:sp>
      <p:sp>
        <p:nvSpPr>
          <p:cNvPr id="17" name="Text 15"/>
          <p:cNvSpPr/>
          <p:nvPr/>
        </p:nvSpPr>
        <p:spPr>
          <a:xfrm>
            <a:off x="4495800" y="2532888"/>
            <a:ext cx="3169920" cy="777240"/>
          </a:xfrm>
          <a:prstGeom prst="rect">
            <a:avLst/>
          </a:prstGeom>
          <a:noFill/>
          <a:ln/>
        </p:spPr>
        <p:txBody>
          <a:bodyPr wrap="square" lIns="0" tIns="0" rIns="0" bIns="0" rtlCol="0" anchor="t"/>
          <a:lstStyle/>
          <a:p>
            <a:pPr marL="0" indent="0">
              <a:buNone/>
            </a:pPr>
            <a:r>
              <a:rPr lang="en-US" sz="2200" b="1" dirty="0">
                <a:solidFill>
                  <a:srgbClr val="146EB4"/>
                </a:solidFill>
                <a:latin typeface="Arial" pitchFamily="34" charset="0"/>
                <a:ea typeface="Arial" pitchFamily="34" charset="-122"/>
                <a:cs typeface="Arial" pitchFamily="34" charset="-120"/>
              </a:rPr>
              <a:t>PR2   </a:t>
            </a:r>
            <a:r>
              <a:rPr lang="en-US" sz="1300" b="1" dirty="0">
                <a:solidFill>
                  <a:srgbClr val="232F3E"/>
                </a:solidFill>
                <a:latin typeface="Arial" pitchFamily="34" charset="0"/>
                <a:ea typeface="Arial" pitchFamily="34" charset="-122"/>
                <a:cs typeface="Arial" pitchFamily="34" charset="-120"/>
              </a:rPr>
              <a:t>Cybersecurity Breach - Geo/Address Data</a:t>
            </a:r>
            <a:endParaRPr lang="en-US" sz="2200" dirty="0"/>
          </a:p>
        </p:txBody>
      </p:sp>
      <p:sp>
        <p:nvSpPr>
          <p:cNvPr id="18" name="Text 16"/>
          <p:cNvSpPr/>
          <p:nvPr/>
        </p:nvSpPr>
        <p:spPr>
          <a:xfrm>
            <a:off x="4495800" y="3337560"/>
            <a:ext cx="3169920" cy="320040"/>
          </a:xfrm>
          <a:prstGeom prst="rect">
            <a:avLst/>
          </a:prstGeom>
          <a:noFill/>
          <a:ln/>
        </p:spPr>
        <p:txBody>
          <a:bodyPr wrap="square" lIns="0" tIns="0" rIns="0" bIns="0" rtlCol="0" anchor="ctr"/>
          <a:lstStyle/>
          <a:p>
            <a:pPr marL="0" indent="0">
              <a:buNone/>
            </a:pPr>
            <a:r>
              <a:rPr lang="en-US" sz="1200" b="1" dirty="0">
                <a:solidFill>
                  <a:srgbClr val="146EB4"/>
                </a:solidFill>
                <a:latin typeface="Arial" pitchFamily="34" charset="0"/>
                <a:ea typeface="Arial" pitchFamily="34" charset="-122"/>
                <a:cs typeface="Arial" pitchFamily="34" charset="-120"/>
              </a:rPr>
              <a:t>5 × 9 = 45  (HIGH)</a:t>
            </a:r>
            <a:endParaRPr lang="en-US" sz="1200" dirty="0"/>
          </a:p>
        </p:txBody>
      </p:sp>
      <p:sp>
        <p:nvSpPr>
          <p:cNvPr id="19" name="Text 17"/>
          <p:cNvSpPr/>
          <p:nvPr/>
        </p:nvSpPr>
        <p:spPr>
          <a:xfrm>
            <a:off x="4495800" y="3721608"/>
            <a:ext cx="3169920" cy="1691640"/>
          </a:xfrm>
          <a:prstGeom prst="rect">
            <a:avLst/>
          </a:prstGeom>
          <a:noFill/>
          <a:ln/>
        </p:spPr>
        <p:txBody>
          <a:bodyPr wrap="square" lIns="0" tIns="0" rIns="0" bIns="0" rtlCol="0" anchor="t"/>
          <a:lstStyle/>
          <a:p>
            <a:pPr marL="0" indent="0">
              <a:lnSpc>
                <a:spcPct val="102000"/>
              </a:lnSpc>
              <a:buNone/>
            </a:pPr>
            <a:r>
              <a:rPr lang="en-US" sz="1300" dirty="0">
                <a:solidFill>
                  <a:srgbClr val="232F3E"/>
                </a:solidFill>
                <a:latin typeface="Arial" pitchFamily="34" charset="0"/>
                <a:ea typeface="Arial" pitchFamily="34" charset="-122"/>
                <a:cs typeface="Arial" pitchFamily="34" charset="-120"/>
              </a:rPr>
              <a:t>A new attack surface - driver geolocation, customer addresses, delivery photos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zero-trust not deployed before integration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ransomware / unauthorized API access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CCPA notification + disruption.</a:t>
            </a:r>
            <a:endParaRPr lang="en-US" sz="1300" dirty="0"/>
          </a:p>
        </p:txBody>
      </p:sp>
      <p:sp>
        <p:nvSpPr>
          <p:cNvPr id="20" name="Text 18"/>
          <p:cNvSpPr/>
          <p:nvPr/>
        </p:nvSpPr>
        <p:spPr>
          <a:xfrm>
            <a:off x="4495800" y="5422392"/>
            <a:ext cx="3169920" cy="640080"/>
          </a:xfrm>
          <a:prstGeom prst="rect">
            <a:avLst/>
          </a:prstGeom>
          <a:noFill/>
          <a:ln/>
        </p:spPr>
        <p:txBody>
          <a:bodyPr wrap="square" lIns="0" tIns="0" rIns="0" bIns="0" rtlCol="0" anchor="t"/>
          <a:lstStyle/>
          <a:p>
            <a:pPr marL="0" indent="0">
              <a:buNone/>
            </a:pPr>
            <a:r>
              <a:rPr lang="en-US" sz="950" i="1" dirty="0">
                <a:solidFill>
                  <a:srgbClr val="5A6470"/>
                </a:solidFill>
                <a:latin typeface="Arial" pitchFamily="34" charset="0"/>
                <a:ea typeface="Arial" pitchFamily="34" charset="-122"/>
                <a:cs typeface="Arial" pitchFamily="34" charset="-120"/>
              </a:rPr>
              <a:t>Edge at stake: a breach turns Amazon’s data-density advantage into a multi-jurisdiction liability.</a:t>
            </a:r>
            <a:endParaRPr lang="en-US" sz="950" dirty="0"/>
          </a:p>
        </p:txBody>
      </p:sp>
      <p:sp>
        <p:nvSpPr>
          <p:cNvPr id="21" name="Shape 19"/>
          <p:cNvSpPr/>
          <p:nvPr/>
        </p:nvSpPr>
        <p:spPr>
          <a:xfrm>
            <a:off x="8077200" y="1965960"/>
            <a:ext cx="3535680" cy="416052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2" name="Shape 20"/>
          <p:cNvSpPr/>
          <p:nvPr/>
        </p:nvSpPr>
        <p:spPr>
          <a:xfrm>
            <a:off x="8077200" y="1965960"/>
            <a:ext cx="3535680" cy="457200"/>
          </a:xfrm>
          <a:prstGeom prst="roundRect">
            <a:avLst>
              <a:gd name="adj" fmla="val 16000"/>
            </a:avLst>
          </a:prstGeom>
          <a:solidFill>
            <a:srgbClr val="FF9900"/>
          </a:solidFill>
          <a:ln/>
        </p:spPr>
        <p:txBody>
          <a:bodyPr/>
          <a:lstStyle/>
          <a:p>
            <a:endParaRPr lang="en-US"/>
          </a:p>
        </p:txBody>
      </p:sp>
      <p:sp>
        <p:nvSpPr>
          <p:cNvPr id="23" name="Shape 21"/>
          <p:cNvSpPr/>
          <p:nvPr/>
        </p:nvSpPr>
        <p:spPr>
          <a:xfrm>
            <a:off x="8077200" y="2194560"/>
            <a:ext cx="3535680" cy="228600"/>
          </a:xfrm>
          <a:prstGeom prst="rect">
            <a:avLst/>
          </a:prstGeom>
          <a:solidFill>
            <a:srgbClr val="FF9900"/>
          </a:solidFill>
          <a:ln/>
        </p:spPr>
        <p:txBody>
          <a:bodyPr/>
          <a:lstStyle/>
          <a:p>
            <a:endParaRPr lang="en-US"/>
          </a:p>
        </p:txBody>
      </p:sp>
      <p:sp>
        <p:nvSpPr>
          <p:cNvPr id="24" name="Text 22"/>
          <p:cNvSpPr/>
          <p:nvPr/>
        </p:nvSpPr>
        <p:spPr>
          <a:xfrm>
            <a:off x="8260080" y="1965960"/>
            <a:ext cx="3169920" cy="457200"/>
          </a:xfrm>
          <a:prstGeom prst="rect">
            <a:avLst/>
          </a:prstGeom>
          <a:noFill/>
          <a:ln/>
        </p:spPr>
        <p:txBody>
          <a:bodyPr wrap="square" lIns="0" tIns="0" rIns="0" bIns="0" rtlCol="0" anchor="ctr"/>
          <a:lstStyle/>
          <a:p>
            <a:pPr marL="0" indent="0">
              <a:buNone/>
            </a:pPr>
            <a:r>
              <a:rPr lang="en-US" sz="1000" b="1" kern="0" spc="100" dirty="0">
                <a:solidFill>
                  <a:srgbClr val="232F3E"/>
                </a:solidFill>
                <a:latin typeface="Arial" pitchFamily="34" charset="0"/>
                <a:ea typeface="Arial" pitchFamily="34" charset="-122"/>
                <a:cs typeface="Arial" pitchFamily="34" charset="-120"/>
              </a:rPr>
              <a:t>OPPORTUNITY</a:t>
            </a:r>
            <a:endParaRPr lang="en-US" sz="1000" dirty="0"/>
          </a:p>
        </p:txBody>
      </p:sp>
      <p:sp>
        <p:nvSpPr>
          <p:cNvPr id="25" name="Text 23"/>
          <p:cNvSpPr/>
          <p:nvPr/>
        </p:nvSpPr>
        <p:spPr>
          <a:xfrm>
            <a:off x="8260080" y="2532888"/>
            <a:ext cx="3169920" cy="777240"/>
          </a:xfrm>
          <a:prstGeom prst="rect">
            <a:avLst/>
          </a:prstGeom>
          <a:noFill/>
          <a:ln/>
        </p:spPr>
        <p:txBody>
          <a:bodyPr wrap="square" lIns="0" tIns="0" rIns="0" bIns="0" rtlCol="0" anchor="t"/>
          <a:lstStyle/>
          <a:p>
            <a:pPr marL="0" indent="0">
              <a:buNone/>
            </a:pPr>
            <a:r>
              <a:rPr lang="en-US" sz="2200" b="1" dirty="0">
                <a:solidFill>
                  <a:srgbClr val="FF9900"/>
                </a:solidFill>
                <a:latin typeface="Arial" pitchFamily="34" charset="0"/>
                <a:ea typeface="Arial" pitchFamily="34" charset="-122"/>
                <a:cs typeface="Arial" pitchFamily="34" charset="-120"/>
              </a:rPr>
              <a:t>PR3   </a:t>
            </a:r>
            <a:r>
              <a:rPr lang="en-US" sz="1300" b="1" dirty="0">
                <a:solidFill>
                  <a:srgbClr val="232F3E"/>
                </a:solidFill>
                <a:latin typeface="Arial" pitchFamily="34" charset="0"/>
                <a:ea typeface="Arial" pitchFamily="34" charset="-122"/>
                <a:cs typeface="Arial" pitchFamily="34" charset="-120"/>
              </a:rPr>
              <a:t>Cost-Reduction &amp; Sustainability</a:t>
            </a:r>
            <a:endParaRPr lang="en-US" sz="2200" dirty="0"/>
          </a:p>
        </p:txBody>
      </p:sp>
      <p:sp>
        <p:nvSpPr>
          <p:cNvPr id="26" name="Text 24"/>
          <p:cNvSpPr/>
          <p:nvPr/>
        </p:nvSpPr>
        <p:spPr>
          <a:xfrm>
            <a:off x="8260080" y="3337560"/>
            <a:ext cx="3169920" cy="320040"/>
          </a:xfrm>
          <a:prstGeom prst="rect">
            <a:avLst/>
          </a:prstGeom>
          <a:noFill/>
          <a:ln/>
        </p:spPr>
        <p:txBody>
          <a:bodyPr wrap="square" lIns="0" tIns="0" rIns="0" bIns="0" rtlCol="0" anchor="ctr"/>
          <a:lstStyle/>
          <a:p>
            <a:pPr marL="0" indent="0">
              <a:buNone/>
            </a:pPr>
            <a:r>
              <a:rPr lang="en-US" sz="1200" b="1" dirty="0">
                <a:solidFill>
                  <a:srgbClr val="B26B00"/>
                </a:solidFill>
                <a:latin typeface="Arial" pitchFamily="34" charset="0"/>
                <a:ea typeface="Arial" pitchFamily="34" charset="-122"/>
                <a:cs typeface="Arial" pitchFamily="34" charset="-120"/>
              </a:rPr>
              <a:t>9 × 8 = 72  (HIGH UPSIDE)</a:t>
            </a:r>
            <a:endParaRPr lang="en-US" sz="1200" dirty="0"/>
          </a:p>
        </p:txBody>
      </p:sp>
      <p:sp>
        <p:nvSpPr>
          <p:cNvPr id="27" name="Text 25"/>
          <p:cNvSpPr/>
          <p:nvPr/>
        </p:nvSpPr>
        <p:spPr>
          <a:xfrm>
            <a:off x="8260080" y="3721608"/>
            <a:ext cx="3169920" cy="1691640"/>
          </a:xfrm>
          <a:prstGeom prst="rect">
            <a:avLst/>
          </a:prstGeom>
          <a:noFill/>
          <a:ln/>
        </p:spPr>
        <p:txBody>
          <a:bodyPr wrap="square" lIns="0" tIns="0" rIns="0" bIns="0" rtlCol="0" anchor="t"/>
          <a:lstStyle/>
          <a:p>
            <a:pPr marL="0" indent="0">
              <a:lnSpc>
                <a:spcPct val="102000"/>
              </a:lnSpc>
              <a:buNone/>
            </a:pPr>
            <a:r>
              <a:rPr lang="en-US" sz="1300" dirty="0">
                <a:solidFill>
                  <a:srgbClr val="232F3E"/>
                </a:solidFill>
                <a:latin typeface="Arial" pitchFamily="34" charset="0"/>
                <a:ea typeface="Arial" pitchFamily="34" charset="-122"/>
                <a:cs typeface="Arial" pitchFamily="34" charset="-120"/>
              </a:rPr>
              <a:t>AI optimization across 8M daily packages → 15–25% per-package reduction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$400M–$1.36B savings + CO₂ cuts </a:t>
            </a:r>
          </a:p>
          <a:p>
            <a:pPr marL="0" indent="0">
              <a:lnSpc>
                <a:spcPct val="102000"/>
              </a:lnSpc>
              <a:buNone/>
            </a:pPr>
            <a:r>
              <a:rPr lang="en-US" sz="1300" dirty="0">
                <a:solidFill>
                  <a:srgbClr val="232F3E"/>
                </a:solidFill>
                <a:latin typeface="Arial" pitchFamily="34" charset="0"/>
                <a:ea typeface="Arial" pitchFamily="34" charset="-122"/>
                <a:cs typeface="Arial" pitchFamily="34" charset="-120"/>
              </a:rPr>
              <a:t>→ pre-compliance with Clean Miles becomes a competitive moat.</a:t>
            </a:r>
            <a:endParaRPr lang="en-US" sz="1300" dirty="0"/>
          </a:p>
        </p:txBody>
      </p:sp>
      <p:sp>
        <p:nvSpPr>
          <p:cNvPr id="28" name="Text 26"/>
          <p:cNvSpPr/>
          <p:nvPr/>
        </p:nvSpPr>
        <p:spPr>
          <a:xfrm>
            <a:off x="8260080" y="5422392"/>
            <a:ext cx="3169920" cy="640080"/>
          </a:xfrm>
          <a:prstGeom prst="rect">
            <a:avLst/>
          </a:prstGeom>
          <a:noFill/>
          <a:ln/>
        </p:spPr>
        <p:txBody>
          <a:bodyPr wrap="square" lIns="0" tIns="0" rIns="0" bIns="0" rtlCol="0" anchor="t"/>
          <a:lstStyle/>
          <a:p>
            <a:pPr marL="0" indent="0">
              <a:buNone/>
            </a:pPr>
            <a:r>
              <a:rPr lang="en-US" sz="950" i="1" dirty="0">
                <a:solidFill>
                  <a:srgbClr val="5A6470"/>
                </a:solidFill>
                <a:latin typeface="Arial" pitchFamily="34" charset="0"/>
                <a:ea typeface="Arial" pitchFamily="34" charset="-122"/>
                <a:cs typeface="Arial" pitchFamily="34" charset="-120"/>
              </a:rPr>
              <a:t>Edge enabled: every year of delay forfeits another year of ORION’s compounding $400M advantage.</a:t>
            </a:r>
            <a:endParaRPr lang="en-US" sz="950" dirty="0"/>
          </a:p>
        </p:txBody>
      </p:sp>
      <p:sp>
        <p:nvSpPr>
          <p:cNvPr id="29" name="Text 27"/>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03 - QUALITATIVE RISK ASSESSMENT</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Scenario Analytics &amp; Industry Fusion Analytics</a:t>
            </a:r>
            <a:endParaRPr lang="en-US" sz="2600" dirty="0"/>
          </a:p>
        </p:txBody>
      </p:sp>
      <p:sp>
        <p:nvSpPr>
          <p:cNvPr id="4" name="Text 2"/>
          <p:cNvSpPr/>
          <p:nvPr/>
        </p:nvSpPr>
        <p:spPr>
          <a:xfrm>
            <a:off x="548640" y="1371600"/>
            <a:ext cx="10972800" cy="365760"/>
          </a:xfrm>
          <a:prstGeom prst="rect">
            <a:avLst/>
          </a:prstGeom>
          <a:noFill/>
          <a:ln/>
        </p:spPr>
        <p:txBody>
          <a:bodyPr wrap="square" lIns="0" tIns="0" rIns="0" bIns="0" rtlCol="0" anchor="ctr"/>
          <a:lstStyle/>
          <a:p>
            <a:pPr marL="0" indent="0">
              <a:buNone/>
            </a:pPr>
            <a:r>
              <a:rPr lang="en-US" sz="1150" dirty="0">
                <a:solidFill>
                  <a:srgbClr val="5A6470"/>
                </a:solidFill>
                <a:latin typeface="Arial" pitchFamily="34" charset="0"/>
                <a:ea typeface="Arial" pitchFamily="34" charset="-122"/>
                <a:cs typeface="Arial" pitchFamily="34" charset="-120"/>
              </a:rPr>
              <a:t>Methods from Fleisher &amp; Bensoussan (2015): Scenario Analytics (Ch. 22) and Industry Fusion Analytics (Ch. 17).</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3263247398"/>
              </p:ext>
            </p:extLst>
          </p:nvPr>
        </p:nvGraphicFramePr>
        <p:xfrm>
          <a:off x="548640" y="1874520"/>
          <a:ext cx="11064240" cy="3291840"/>
        </p:xfrm>
        <a:graphic>
          <a:graphicData uri="http://schemas.openxmlformats.org/drawingml/2006/table">
            <a:tbl>
              <a:tblPr/>
              <a:tblGrid>
                <a:gridCol w="9144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41148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Risk</a:t>
                      </a:r>
                      <a:endParaRPr lang="en-US" sz="16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Base-case scenario</a:t>
                      </a:r>
                      <a:endParaRPr lang="en-US" sz="16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Industry-fusion benchmark</a:t>
                      </a:r>
                      <a:endParaRPr lang="en-US" sz="16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Proceed?</a:t>
                      </a:r>
                      <a:endParaRPr lang="en-US" sz="16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960120">
                <a:tc>
                  <a:txBody>
                    <a:bodyPr/>
                    <a:lstStyle/>
                    <a:p>
                      <a:pPr marL="0" indent="0" algn="ctr">
                        <a:buNone/>
                      </a:pPr>
                      <a:r>
                        <a:rPr lang="en-US" sz="1400" b="1" dirty="0">
                          <a:solidFill>
                            <a:srgbClr val="232F3E"/>
                          </a:solidFill>
                          <a:latin typeface="Arial" pitchFamily="34" charset="0"/>
                          <a:ea typeface="Arial" pitchFamily="34" charset="-122"/>
                          <a:cs typeface="Arial" pitchFamily="34" charset="-120"/>
                        </a:rPr>
                        <a:t>PR1</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l">
                        <a:buNone/>
                      </a:pPr>
                      <a:r>
                        <a:rPr lang="en-US" sz="1400" dirty="0">
                          <a:solidFill>
                            <a:srgbClr val="232F3E"/>
                          </a:solidFill>
                          <a:latin typeface="Arial" pitchFamily="34" charset="0"/>
                          <a:ea typeface="Arial" pitchFamily="34" charset="-122"/>
                          <a:cs typeface="Arial" pitchFamily="34" charset="-120"/>
                        </a:rPr>
                        <a:t>Win-rate settles near 38% for three quarters; positive internal ROI but missed external targets.</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l">
                        <a:buNone/>
                      </a:pPr>
                      <a:r>
                        <a:rPr lang="en-US" sz="1400" dirty="0">
                          <a:solidFill>
                            <a:srgbClr val="232F3E"/>
                          </a:solidFill>
                          <a:latin typeface="Arial" pitchFamily="34" charset="0"/>
                          <a:ea typeface="Arial" pitchFamily="34" charset="-122"/>
                          <a:cs typeface="Arial" pitchFamily="34" charset="-120"/>
                        </a:rPr>
                        <a:t>Oracle–PeopleSoft (36-mo ramp); Google Cloud (&lt;30% win-rate for 3 yrs despite better tech).</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400" b="1" dirty="0">
                          <a:solidFill>
                            <a:srgbClr val="232F3E"/>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1"/>
                  </a:ext>
                </a:extLst>
              </a:tr>
              <a:tr h="960120">
                <a:tc>
                  <a:txBody>
                    <a:bodyPr/>
                    <a:lstStyle/>
                    <a:p>
                      <a:pPr marL="0" indent="0" algn="ctr">
                        <a:buNone/>
                      </a:pPr>
                      <a:r>
                        <a:rPr lang="en-US" sz="1400" b="1" dirty="0">
                          <a:solidFill>
                            <a:srgbClr val="232F3E"/>
                          </a:solidFill>
                          <a:latin typeface="Arial" pitchFamily="34" charset="0"/>
                          <a:ea typeface="Arial" pitchFamily="34" charset="-122"/>
                          <a:cs typeface="Arial" pitchFamily="34" charset="-120"/>
                        </a:rPr>
                        <a:t>PR2</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l">
                        <a:buNone/>
                      </a:pPr>
                      <a:r>
                        <a:rPr lang="en-US" sz="1400" dirty="0">
                          <a:solidFill>
                            <a:srgbClr val="232F3E"/>
                          </a:solidFill>
                          <a:latin typeface="Arial" pitchFamily="34" charset="0"/>
                          <a:ea typeface="Arial" pitchFamily="34" charset="-122"/>
                          <a:cs typeface="Arial" pitchFamily="34" charset="-120"/>
                        </a:rPr>
                        <a:t>Months 6–9 are peak exposure; attack detected via geo-API anomaly before exfiltration.</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l">
                        <a:buNone/>
                      </a:pPr>
                      <a:r>
                        <a:rPr lang="en-US" sz="1400" dirty="0">
                          <a:solidFill>
                            <a:srgbClr val="232F3E"/>
                          </a:solidFill>
                          <a:latin typeface="Arial" pitchFamily="34" charset="0"/>
                          <a:ea typeface="Arial" pitchFamily="34" charset="-122"/>
                          <a:cs typeface="Arial" pitchFamily="34" charset="-120"/>
                        </a:rPr>
                        <a:t>IBM 2025 ($10.22M US avg); 33% logistics AWS credentials exposed; Colonial Pipeline ($4B+).</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400" b="1" dirty="0">
                          <a:solidFill>
                            <a:srgbClr val="232F3E"/>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2"/>
                  </a:ext>
                </a:extLst>
              </a:tr>
              <a:tr h="960120">
                <a:tc>
                  <a:txBody>
                    <a:bodyPr/>
                    <a:lstStyle/>
                    <a:p>
                      <a:pPr marL="0" indent="0" algn="ctr">
                        <a:buNone/>
                      </a:pPr>
                      <a:r>
                        <a:rPr lang="en-US" sz="1400" b="1" dirty="0">
                          <a:solidFill>
                            <a:srgbClr val="232F3E"/>
                          </a:solidFill>
                          <a:latin typeface="Arial" pitchFamily="34" charset="0"/>
                          <a:ea typeface="Arial" pitchFamily="34" charset="-122"/>
                          <a:cs typeface="Arial" pitchFamily="34" charset="-120"/>
                        </a:rPr>
                        <a:t>PR3</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l">
                        <a:buNone/>
                      </a:pPr>
                      <a:r>
                        <a:rPr lang="en-US" sz="1400" dirty="0">
                          <a:solidFill>
                            <a:srgbClr val="232F3E"/>
                          </a:solidFill>
                          <a:latin typeface="Arial" pitchFamily="34" charset="0"/>
                          <a:ea typeface="Arial" pitchFamily="34" charset="-122"/>
                          <a:cs typeface="Arial" pitchFamily="34" charset="-120"/>
                        </a:rPr>
                        <a:t>Adoption ~70% in 12 months; ~14% per-package reduction ≈ $490M/yr.</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l">
                        <a:buNone/>
                      </a:pPr>
                      <a:r>
                        <a:rPr lang="en-US" sz="1400" dirty="0">
                          <a:solidFill>
                            <a:srgbClr val="232F3E"/>
                          </a:solidFill>
                          <a:latin typeface="Arial" pitchFamily="34" charset="0"/>
                          <a:ea typeface="Arial" pitchFamily="34" charset="-122"/>
                          <a:cs typeface="Arial" pitchFamily="34" charset="-120"/>
                        </a:rPr>
                        <a:t>UPS ORION ($300–400M/yr); Walmart (30%); Shuaibu et al. (15–25%).</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400" b="1" dirty="0">
                          <a:solidFill>
                            <a:srgbClr val="232F3E"/>
                          </a:solidFill>
                          <a:latin typeface="Arial" pitchFamily="34" charset="0"/>
                          <a:ea typeface="Arial" pitchFamily="34" charset="-122"/>
                          <a:cs typeface="Arial" pitchFamily="34" charset="-120"/>
                        </a:rPr>
                        <a:t>Yes</a:t>
                      </a:r>
                      <a:endParaRPr lang="en-US" sz="1400" dirty="0">
                        <a:latin typeface="Arial" charset="0"/>
                        <a:ea typeface="Arial" charset="0"/>
                        <a:cs typeface="Arial" charset="0"/>
                      </a:endParaRPr>
                    </a:p>
                  </a:txBody>
                  <a:tcPr marL="76200" marR="76200" marT="50800" marB="508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hape 3"/>
          <p:cNvSpPr/>
          <p:nvPr/>
        </p:nvSpPr>
        <p:spPr>
          <a:xfrm>
            <a:off x="548640" y="5486400"/>
            <a:ext cx="11064240" cy="685800"/>
          </a:xfrm>
          <a:prstGeom prst="roundRect">
            <a:avLst>
              <a:gd name="adj" fmla="val 10667"/>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5" name="Text 4"/>
          <p:cNvSpPr/>
          <p:nvPr/>
        </p:nvSpPr>
        <p:spPr>
          <a:xfrm>
            <a:off x="822960" y="5532120"/>
            <a:ext cx="10515600" cy="594360"/>
          </a:xfrm>
          <a:prstGeom prst="rect">
            <a:avLst/>
          </a:prstGeom>
          <a:noFill/>
          <a:ln/>
        </p:spPr>
        <p:txBody>
          <a:bodyPr wrap="square" lIns="0" tIns="0" rIns="0" bIns="0" rtlCol="0" anchor="ctr"/>
          <a:lstStyle/>
          <a:p>
            <a:pPr marL="0" indent="0">
              <a:buNone/>
            </a:pPr>
            <a:r>
              <a:rPr lang="en-US" sz="1200" b="1" dirty="0">
                <a:solidFill>
                  <a:srgbClr val="FF9900"/>
                </a:solidFill>
                <a:latin typeface="Arial" pitchFamily="34" charset="0"/>
                <a:ea typeface="Arial" pitchFamily="34" charset="-122"/>
                <a:cs typeface="Arial" pitchFamily="34" charset="-120"/>
              </a:rPr>
              <a:t>Key insight:  </a:t>
            </a:r>
            <a:r>
              <a:rPr lang="en-US" sz="1200" dirty="0">
                <a:solidFill>
                  <a:srgbClr val="232F3E"/>
                </a:solidFill>
                <a:latin typeface="Arial" pitchFamily="34" charset="0"/>
                <a:ea typeface="Arial" pitchFamily="34" charset="-122"/>
                <a:cs typeface="Arial" pitchFamily="34" charset="-120"/>
              </a:rPr>
              <a:t>the commercial maturity of the logistics-software market - not the technology - is the primary source of PR1 risk.</a:t>
            </a:r>
            <a:endParaRPr lang="en-US" sz="1200" dirty="0"/>
          </a:p>
        </p:txBody>
      </p:sp>
      <p:sp>
        <p:nvSpPr>
          <p:cNvPr id="8" name="Text 5"/>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04 - QUANTITATIVE RISK ASSESSMENT</a:t>
            </a:r>
            <a:endParaRPr lang="en-US" sz="1200" dirty="0"/>
          </a:p>
        </p:txBody>
      </p:sp>
      <p:sp>
        <p:nvSpPr>
          <p:cNvPr id="3" name="Text 1"/>
          <p:cNvSpPr/>
          <p:nvPr/>
        </p:nvSpPr>
        <p:spPr>
          <a:xfrm>
            <a:off x="548640" y="749808"/>
            <a:ext cx="1133856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I&amp;W Analysis · Monte Carlo · ML Prediction (50,000 trials)</a:t>
            </a:r>
            <a:endParaRPr lang="en-US" sz="2600" dirty="0"/>
          </a:p>
        </p:txBody>
      </p:sp>
      <p:sp>
        <p:nvSpPr>
          <p:cNvPr id="4" name="Shape 2"/>
          <p:cNvSpPr/>
          <p:nvPr/>
        </p:nvSpPr>
        <p:spPr>
          <a:xfrm>
            <a:off x="548640" y="1828800"/>
            <a:ext cx="3535680" cy="397764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sz="2000"/>
          </a:p>
        </p:txBody>
      </p:sp>
      <p:sp>
        <p:nvSpPr>
          <p:cNvPr id="5" name="Shape 3"/>
          <p:cNvSpPr/>
          <p:nvPr/>
        </p:nvSpPr>
        <p:spPr>
          <a:xfrm>
            <a:off x="548640" y="1828800"/>
            <a:ext cx="3535680" cy="566928"/>
          </a:xfrm>
          <a:prstGeom prst="roundRect">
            <a:avLst>
              <a:gd name="adj" fmla="val 12903"/>
            </a:avLst>
          </a:prstGeom>
          <a:solidFill>
            <a:srgbClr val="232F3E"/>
          </a:solidFill>
          <a:ln/>
        </p:spPr>
        <p:txBody>
          <a:bodyPr/>
          <a:lstStyle/>
          <a:p>
            <a:endParaRPr lang="en-US"/>
          </a:p>
        </p:txBody>
      </p:sp>
      <p:sp>
        <p:nvSpPr>
          <p:cNvPr id="6" name="Shape 4"/>
          <p:cNvSpPr/>
          <p:nvPr/>
        </p:nvSpPr>
        <p:spPr>
          <a:xfrm>
            <a:off x="548640" y="2121408"/>
            <a:ext cx="3535680" cy="274320"/>
          </a:xfrm>
          <a:prstGeom prst="rect">
            <a:avLst/>
          </a:prstGeom>
          <a:solidFill>
            <a:srgbClr val="232F3E"/>
          </a:solidFill>
          <a:ln/>
        </p:spPr>
        <p:txBody>
          <a:bodyPr/>
          <a:lstStyle/>
          <a:p>
            <a:endParaRPr lang="en-US"/>
          </a:p>
        </p:txBody>
      </p:sp>
      <p:sp>
        <p:nvSpPr>
          <p:cNvPr id="7" name="Text 5"/>
          <p:cNvSpPr/>
          <p:nvPr/>
        </p:nvSpPr>
        <p:spPr>
          <a:xfrm>
            <a:off x="731520" y="1828800"/>
            <a:ext cx="3169920" cy="566928"/>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PR1  </a:t>
            </a:r>
            <a:r>
              <a:rPr lang="en-US" sz="1300" dirty="0">
                <a:solidFill>
                  <a:srgbClr val="E8EAED"/>
                </a:solidFill>
                <a:latin typeface="Arial" pitchFamily="34" charset="0"/>
                <a:ea typeface="Arial" pitchFamily="34" charset="-122"/>
                <a:cs typeface="Arial" pitchFamily="34" charset="-120"/>
              </a:rPr>
              <a:t>Market-Entry</a:t>
            </a:r>
            <a:endParaRPr lang="en-US" sz="1800" dirty="0"/>
          </a:p>
        </p:txBody>
      </p:sp>
      <p:sp>
        <p:nvSpPr>
          <p:cNvPr id="8" name="Text 6"/>
          <p:cNvSpPr/>
          <p:nvPr/>
        </p:nvSpPr>
        <p:spPr>
          <a:xfrm>
            <a:off x="749808" y="2606040"/>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I&amp;W P = 0.65</a:t>
            </a:r>
            <a:endParaRPr lang="en-US" sz="1150" dirty="0"/>
          </a:p>
        </p:txBody>
      </p:sp>
      <p:sp>
        <p:nvSpPr>
          <p:cNvPr id="9" name="Text 7"/>
          <p:cNvSpPr/>
          <p:nvPr/>
        </p:nvSpPr>
        <p:spPr>
          <a:xfrm>
            <a:off x="749808" y="2990088"/>
            <a:ext cx="3133344" cy="384048"/>
          </a:xfrm>
          <a:prstGeom prst="rect">
            <a:avLst/>
          </a:prstGeom>
          <a:noFill/>
          <a:ln/>
        </p:spPr>
        <p:txBody>
          <a:bodyPr wrap="square" lIns="0" tIns="0" rIns="0" bIns="0" rtlCol="0" anchor="ctr"/>
          <a:lstStyle/>
          <a:p>
            <a:pPr marL="0" indent="0">
              <a:buNone/>
            </a:pPr>
            <a:r>
              <a:rPr lang="en-US" sz="1500" b="1" dirty="0">
                <a:solidFill>
                  <a:srgbClr val="232F3E"/>
                </a:solidFill>
                <a:latin typeface="Arial" pitchFamily="34" charset="0"/>
                <a:ea typeface="Arial" pitchFamily="34" charset="-122"/>
                <a:cs typeface="Arial" pitchFamily="34" charset="-120"/>
              </a:rPr>
              <a:t>EMV  −$368M</a:t>
            </a:r>
            <a:endParaRPr lang="en-US" sz="1500" dirty="0"/>
          </a:p>
        </p:txBody>
      </p:sp>
      <p:sp>
        <p:nvSpPr>
          <p:cNvPr id="10" name="Text 8"/>
          <p:cNvSpPr/>
          <p:nvPr/>
        </p:nvSpPr>
        <p:spPr>
          <a:xfrm>
            <a:off x="749808" y="3447288"/>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P95 downside  $890M</a:t>
            </a:r>
            <a:endParaRPr lang="en-US" sz="1150" dirty="0"/>
          </a:p>
        </p:txBody>
      </p:sp>
      <p:sp>
        <p:nvSpPr>
          <p:cNvPr id="11" name="Shape 9"/>
          <p:cNvSpPr/>
          <p:nvPr/>
        </p:nvSpPr>
        <p:spPr>
          <a:xfrm>
            <a:off x="749808" y="3849624"/>
            <a:ext cx="3133344" cy="0"/>
          </a:xfrm>
          <a:prstGeom prst="line">
            <a:avLst/>
          </a:prstGeom>
          <a:noFill/>
          <a:ln w="12700">
            <a:solidFill>
              <a:srgbClr val="E3E5E8"/>
            </a:solidFill>
            <a:prstDash val="solid"/>
          </a:ln>
        </p:spPr>
        <p:txBody>
          <a:bodyPr/>
          <a:lstStyle/>
          <a:p>
            <a:endParaRPr lang="en-US"/>
          </a:p>
        </p:txBody>
      </p:sp>
      <p:sp>
        <p:nvSpPr>
          <p:cNvPr id="12" name="Text 10"/>
          <p:cNvSpPr/>
          <p:nvPr/>
        </p:nvSpPr>
        <p:spPr>
          <a:xfrm>
            <a:off x="749808" y="3959352"/>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Signal: sales-eng vacancy gap</a:t>
            </a:r>
            <a:endParaRPr lang="en-US" sz="1150" dirty="0"/>
          </a:p>
        </p:txBody>
      </p:sp>
      <p:sp>
        <p:nvSpPr>
          <p:cNvPr id="13" name="Text 11"/>
          <p:cNvSpPr/>
          <p:nvPr/>
        </p:nvSpPr>
        <p:spPr>
          <a:xfrm>
            <a:off x="749808" y="4343400"/>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ML AUC 0.87</a:t>
            </a:r>
            <a:endParaRPr lang="en-US" sz="1150" dirty="0"/>
          </a:p>
        </p:txBody>
      </p:sp>
      <p:sp>
        <p:nvSpPr>
          <p:cNvPr id="14" name="Shape 12"/>
          <p:cNvSpPr/>
          <p:nvPr/>
        </p:nvSpPr>
        <p:spPr>
          <a:xfrm>
            <a:off x="713232" y="4764024"/>
            <a:ext cx="3206496" cy="640080"/>
          </a:xfrm>
          <a:prstGeom prst="roundRect">
            <a:avLst>
              <a:gd name="adj" fmla="val 11429"/>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5" name="Text 13"/>
          <p:cNvSpPr/>
          <p:nvPr/>
        </p:nvSpPr>
        <p:spPr>
          <a:xfrm>
            <a:off x="822960" y="4782312"/>
            <a:ext cx="2987040" cy="603504"/>
          </a:xfrm>
          <a:prstGeom prst="rect">
            <a:avLst/>
          </a:prstGeom>
          <a:noFill/>
          <a:ln/>
        </p:spPr>
        <p:txBody>
          <a:bodyPr wrap="square" lIns="0" tIns="0" rIns="0" bIns="0" rtlCol="0" anchor="ctr"/>
          <a:lstStyle/>
          <a:p>
            <a:pPr marL="0" indent="0">
              <a:buNone/>
            </a:pPr>
            <a:r>
              <a:rPr lang="en-US" sz="1050" b="1" dirty="0">
                <a:solidFill>
                  <a:srgbClr val="232F3E"/>
                </a:solidFill>
                <a:latin typeface="Arial" pitchFamily="34" charset="0"/>
                <a:ea typeface="Arial" pitchFamily="34" charset="-122"/>
                <a:cs typeface="Arial" pitchFamily="34" charset="-120"/>
              </a:rPr>
              <a:t>Mitigate → residual −$239M (−35%)</a:t>
            </a:r>
            <a:endParaRPr lang="en-US" sz="1050" dirty="0"/>
          </a:p>
        </p:txBody>
      </p:sp>
      <p:sp>
        <p:nvSpPr>
          <p:cNvPr id="16" name="Shape 14"/>
          <p:cNvSpPr/>
          <p:nvPr/>
        </p:nvSpPr>
        <p:spPr>
          <a:xfrm>
            <a:off x="4312920" y="1828800"/>
            <a:ext cx="3535680" cy="397764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7" name="Shape 15"/>
          <p:cNvSpPr/>
          <p:nvPr/>
        </p:nvSpPr>
        <p:spPr>
          <a:xfrm>
            <a:off x="4312920" y="1828800"/>
            <a:ext cx="3535680" cy="566928"/>
          </a:xfrm>
          <a:prstGeom prst="roundRect">
            <a:avLst>
              <a:gd name="adj" fmla="val 12903"/>
            </a:avLst>
          </a:prstGeom>
          <a:solidFill>
            <a:srgbClr val="146EB4"/>
          </a:solidFill>
          <a:ln/>
        </p:spPr>
        <p:txBody>
          <a:bodyPr/>
          <a:lstStyle/>
          <a:p>
            <a:endParaRPr lang="en-US"/>
          </a:p>
        </p:txBody>
      </p:sp>
      <p:sp>
        <p:nvSpPr>
          <p:cNvPr id="18" name="Shape 16"/>
          <p:cNvSpPr/>
          <p:nvPr/>
        </p:nvSpPr>
        <p:spPr>
          <a:xfrm>
            <a:off x="4312920" y="2121408"/>
            <a:ext cx="3535680" cy="274320"/>
          </a:xfrm>
          <a:prstGeom prst="rect">
            <a:avLst/>
          </a:prstGeom>
          <a:solidFill>
            <a:srgbClr val="146EB4"/>
          </a:solidFill>
          <a:ln/>
        </p:spPr>
        <p:txBody>
          <a:bodyPr/>
          <a:lstStyle/>
          <a:p>
            <a:endParaRPr lang="en-US"/>
          </a:p>
        </p:txBody>
      </p:sp>
      <p:sp>
        <p:nvSpPr>
          <p:cNvPr id="19" name="Text 17"/>
          <p:cNvSpPr/>
          <p:nvPr/>
        </p:nvSpPr>
        <p:spPr>
          <a:xfrm>
            <a:off x="4495800" y="1828800"/>
            <a:ext cx="3169920" cy="566928"/>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PR2  </a:t>
            </a:r>
            <a:r>
              <a:rPr lang="en-US" sz="1300" dirty="0">
                <a:solidFill>
                  <a:srgbClr val="E8EAED"/>
                </a:solidFill>
                <a:latin typeface="Arial" pitchFamily="34" charset="0"/>
                <a:ea typeface="Arial" pitchFamily="34" charset="-122"/>
                <a:cs typeface="Arial" pitchFamily="34" charset="-120"/>
              </a:rPr>
              <a:t>Cyber Breach</a:t>
            </a:r>
            <a:endParaRPr lang="en-US" sz="1800" dirty="0"/>
          </a:p>
        </p:txBody>
      </p:sp>
      <p:sp>
        <p:nvSpPr>
          <p:cNvPr id="20" name="Text 18"/>
          <p:cNvSpPr/>
          <p:nvPr/>
        </p:nvSpPr>
        <p:spPr>
          <a:xfrm>
            <a:off x="4514088" y="2606040"/>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I&amp;W P = 0.47</a:t>
            </a:r>
            <a:endParaRPr lang="en-US" sz="1150" dirty="0"/>
          </a:p>
        </p:txBody>
      </p:sp>
      <p:sp>
        <p:nvSpPr>
          <p:cNvPr id="21" name="Text 19"/>
          <p:cNvSpPr/>
          <p:nvPr/>
        </p:nvSpPr>
        <p:spPr>
          <a:xfrm>
            <a:off x="4514088" y="2990088"/>
            <a:ext cx="3133344" cy="384048"/>
          </a:xfrm>
          <a:prstGeom prst="rect">
            <a:avLst/>
          </a:prstGeom>
          <a:noFill/>
          <a:ln/>
        </p:spPr>
        <p:txBody>
          <a:bodyPr wrap="square" lIns="0" tIns="0" rIns="0" bIns="0" rtlCol="0" anchor="ctr"/>
          <a:lstStyle/>
          <a:p>
            <a:pPr marL="0" indent="0">
              <a:buNone/>
            </a:pPr>
            <a:r>
              <a:rPr lang="en-US" sz="1500" b="1" dirty="0">
                <a:solidFill>
                  <a:srgbClr val="146EB4"/>
                </a:solidFill>
                <a:latin typeface="Arial" pitchFamily="34" charset="0"/>
                <a:ea typeface="Arial" pitchFamily="34" charset="-122"/>
                <a:cs typeface="Arial" pitchFamily="34" charset="-120"/>
              </a:rPr>
              <a:t>EMV  −$231M</a:t>
            </a:r>
            <a:endParaRPr lang="en-US" sz="1500" dirty="0"/>
          </a:p>
        </p:txBody>
      </p:sp>
      <p:sp>
        <p:nvSpPr>
          <p:cNvPr id="22" name="Text 20"/>
          <p:cNvSpPr/>
          <p:nvPr/>
        </p:nvSpPr>
        <p:spPr>
          <a:xfrm>
            <a:off x="4514088" y="3447288"/>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P95 downside  $701M</a:t>
            </a:r>
            <a:endParaRPr lang="en-US" sz="1150" dirty="0"/>
          </a:p>
        </p:txBody>
      </p:sp>
      <p:sp>
        <p:nvSpPr>
          <p:cNvPr id="23" name="Shape 21"/>
          <p:cNvSpPr/>
          <p:nvPr/>
        </p:nvSpPr>
        <p:spPr>
          <a:xfrm>
            <a:off x="4514088" y="3849624"/>
            <a:ext cx="3133344" cy="0"/>
          </a:xfrm>
          <a:prstGeom prst="line">
            <a:avLst/>
          </a:prstGeom>
          <a:noFill/>
          <a:ln w="12700">
            <a:solidFill>
              <a:srgbClr val="E3E5E8"/>
            </a:solidFill>
            <a:prstDash val="solid"/>
          </a:ln>
        </p:spPr>
        <p:txBody>
          <a:bodyPr/>
          <a:lstStyle/>
          <a:p>
            <a:endParaRPr lang="en-US"/>
          </a:p>
        </p:txBody>
      </p:sp>
      <p:sp>
        <p:nvSpPr>
          <p:cNvPr id="24" name="Text 22"/>
          <p:cNvSpPr/>
          <p:nvPr/>
        </p:nvSpPr>
        <p:spPr>
          <a:xfrm>
            <a:off x="4514088" y="3959352"/>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Signal: anomalous geo-API traffic</a:t>
            </a:r>
            <a:endParaRPr lang="en-US" sz="1150" dirty="0"/>
          </a:p>
        </p:txBody>
      </p:sp>
      <p:sp>
        <p:nvSpPr>
          <p:cNvPr id="25" name="Text 23"/>
          <p:cNvSpPr/>
          <p:nvPr/>
        </p:nvSpPr>
        <p:spPr>
          <a:xfrm>
            <a:off x="4514088" y="4343400"/>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ML AUC 0.89</a:t>
            </a:r>
            <a:endParaRPr lang="en-US" sz="1150" dirty="0"/>
          </a:p>
        </p:txBody>
      </p:sp>
      <p:sp>
        <p:nvSpPr>
          <p:cNvPr id="26" name="Shape 24"/>
          <p:cNvSpPr/>
          <p:nvPr/>
        </p:nvSpPr>
        <p:spPr>
          <a:xfrm>
            <a:off x="4477512" y="4764024"/>
            <a:ext cx="3206496" cy="640080"/>
          </a:xfrm>
          <a:prstGeom prst="roundRect">
            <a:avLst>
              <a:gd name="adj" fmla="val 11429"/>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7" name="Text 25"/>
          <p:cNvSpPr/>
          <p:nvPr/>
        </p:nvSpPr>
        <p:spPr>
          <a:xfrm>
            <a:off x="4587240" y="4782312"/>
            <a:ext cx="2987040" cy="603504"/>
          </a:xfrm>
          <a:prstGeom prst="rect">
            <a:avLst/>
          </a:prstGeom>
          <a:noFill/>
          <a:ln/>
        </p:spPr>
        <p:txBody>
          <a:bodyPr wrap="square" lIns="0" tIns="0" rIns="0" bIns="0" rtlCol="0" anchor="ctr"/>
          <a:lstStyle/>
          <a:p>
            <a:pPr marL="0" indent="0">
              <a:buNone/>
            </a:pPr>
            <a:r>
              <a:rPr lang="en-US" sz="1050" b="1" dirty="0">
                <a:solidFill>
                  <a:srgbClr val="232F3E"/>
                </a:solidFill>
                <a:latin typeface="Arial" pitchFamily="34" charset="0"/>
                <a:ea typeface="Arial" pitchFamily="34" charset="-122"/>
                <a:cs typeface="Arial" pitchFamily="34" charset="-120"/>
              </a:rPr>
              <a:t>Mitigate + Transfer → −$104M (−55%)</a:t>
            </a:r>
            <a:endParaRPr lang="en-US" sz="1050" dirty="0"/>
          </a:p>
        </p:txBody>
      </p:sp>
      <p:sp>
        <p:nvSpPr>
          <p:cNvPr id="28" name="Shape 26"/>
          <p:cNvSpPr/>
          <p:nvPr/>
        </p:nvSpPr>
        <p:spPr>
          <a:xfrm>
            <a:off x="8077200" y="1828800"/>
            <a:ext cx="3535680" cy="397764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9" name="Shape 27"/>
          <p:cNvSpPr/>
          <p:nvPr/>
        </p:nvSpPr>
        <p:spPr>
          <a:xfrm>
            <a:off x="8077200" y="1828800"/>
            <a:ext cx="3535680" cy="566928"/>
          </a:xfrm>
          <a:prstGeom prst="roundRect">
            <a:avLst>
              <a:gd name="adj" fmla="val 12903"/>
            </a:avLst>
          </a:prstGeom>
          <a:solidFill>
            <a:srgbClr val="FF9900"/>
          </a:solidFill>
          <a:ln/>
        </p:spPr>
        <p:txBody>
          <a:bodyPr/>
          <a:lstStyle/>
          <a:p>
            <a:endParaRPr lang="en-US"/>
          </a:p>
        </p:txBody>
      </p:sp>
      <p:sp>
        <p:nvSpPr>
          <p:cNvPr id="30" name="Shape 28"/>
          <p:cNvSpPr/>
          <p:nvPr/>
        </p:nvSpPr>
        <p:spPr>
          <a:xfrm>
            <a:off x="8077200" y="2121408"/>
            <a:ext cx="3535680" cy="274320"/>
          </a:xfrm>
          <a:prstGeom prst="rect">
            <a:avLst/>
          </a:prstGeom>
          <a:solidFill>
            <a:srgbClr val="FF9900"/>
          </a:solidFill>
          <a:ln/>
        </p:spPr>
        <p:txBody>
          <a:bodyPr/>
          <a:lstStyle/>
          <a:p>
            <a:endParaRPr lang="en-US"/>
          </a:p>
        </p:txBody>
      </p:sp>
      <p:sp>
        <p:nvSpPr>
          <p:cNvPr id="31" name="Text 29"/>
          <p:cNvSpPr/>
          <p:nvPr/>
        </p:nvSpPr>
        <p:spPr>
          <a:xfrm>
            <a:off x="8260080" y="1828800"/>
            <a:ext cx="3169920" cy="566928"/>
          </a:xfrm>
          <a:prstGeom prst="rect">
            <a:avLst/>
          </a:prstGeom>
          <a:noFill/>
          <a:ln/>
        </p:spPr>
        <p:txBody>
          <a:bodyPr wrap="square" lIns="0" tIns="0" rIns="0" bIns="0" rtlCol="0" anchor="ctr"/>
          <a:lstStyle/>
          <a:p>
            <a:pPr marL="0" indent="0">
              <a:buNone/>
            </a:pPr>
            <a:r>
              <a:rPr lang="en-US" sz="1800" b="1" dirty="0">
                <a:solidFill>
                  <a:srgbClr val="232F3E"/>
                </a:solidFill>
                <a:latin typeface="Arial" pitchFamily="34" charset="0"/>
                <a:ea typeface="Arial" pitchFamily="34" charset="-122"/>
                <a:cs typeface="Arial" pitchFamily="34" charset="-120"/>
              </a:rPr>
              <a:t>PR3  </a:t>
            </a:r>
            <a:r>
              <a:rPr lang="en-US" sz="1300" dirty="0">
                <a:solidFill>
                  <a:srgbClr val="232F3E"/>
                </a:solidFill>
                <a:latin typeface="Arial" pitchFamily="34" charset="0"/>
                <a:ea typeface="Arial" pitchFamily="34" charset="-122"/>
                <a:cs typeface="Arial" pitchFamily="34" charset="-120"/>
              </a:rPr>
              <a:t>Cost Reduction</a:t>
            </a:r>
            <a:endParaRPr lang="en-US" sz="1800" dirty="0"/>
          </a:p>
        </p:txBody>
      </p:sp>
      <p:sp>
        <p:nvSpPr>
          <p:cNvPr id="32" name="Text 30"/>
          <p:cNvSpPr/>
          <p:nvPr/>
        </p:nvSpPr>
        <p:spPr>
          <a:xfrm>
            <a:off x="8278368" y="2606040"/>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I&amp;W P = 0.62</a:t>
            </a:r>
            <a:endParaRPr lang="en-US" sz="1150" dirty="0"/>
          </a:p>
        </p:txBody>
      </p:sp>
      <p:sp>
        <p:nvSpPr>
          <p:cNvPr id="33" name="Text 31"/>
          <p:cNvSpPr/>
          <p:nvPr/>
        </p:nvSpPr>
        <p:spPr>
          <a:xfrm>
            <a:off x="8278368" y="2990088"/>
            <a:ext cx="3133344" cy="384048"/>
          </a:xfrm>
          <a:prstGeom prst="rect">
            <a:avLst/>
          </a:prstGeom>
          <a:noFill/>
          <a:ln/>
        </p:spPr>
        <p:txBody>
          <a:bodyPr wrap="square" lIns="0" tIns="0" rIns="0" bIns="0" rtlCol="0" anchor="ctr"/>
          <a:lstStyle/>
          <a:p>
            <a:pPr marL="0" indent="0">
              <a:buNone/>
            </a:pPr>
            <a:r>
              <a:rPr lang="en-US" sz="1500" b="1" dirty="0">
                <a:solidFill>
                  <a:srgbClr val="B26B00"/>
                </a:solidFill>
                <a:latin typeface="Arial" pitchFamily="34" charset="0"/>
                <a:ea typeface="Arial" pitchFamily="34" charset="-122"/>
                <a:cs typeface="Arial" pitchFamily="34" charset="-120"/>
              </a:rPr>
              <a:t>EMV  +$453M</a:t>
            </a:r>
            <a:endParaRPr lang="en-US" sz="1500" dirty="0"/>
          </a:p>
        </p:txBody>
      </p:sp>
      <p:sp>
        <p:nvSpPr>
          <p:cNvPr id="34" name="Text 32"/>
          <p:cNvSpPr/>
          <p:nvPr/>
        </p:nvSpPr>
        <p:spPr>
          <a:xfrm>
            <a:off x="8278368" y="3447288"/>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P95 upside  +$991M</a:t>
            </a:r>
            <a:endParaRPr lang="en-US" sz="1150" dirty="0"/>
          </a:p>
        </p:txBody>
      </p:sp>
      <p:sp>
        <p:nvSpPr>
          <p:cNvPr id="35" name="Shape 33"/>
          <p:cNvSpPr/>
          <p:nvPr/>
        </p:nvSpPr>
        <p:spPr>
          <a:xfrm>
            <a:off x="8278368" y="3849624"/>
            <a:ext cx="3133344" cy="0"/>
          </a:xfrm>
          <a:prstGeom prst="line">
            <a:avLst/>
          </a:prstGeom>
          <a:noFill/>
          <a:ln w="12700">
            <a:solidFill>
              <a:srgbClr val="E3E5E8"/>
            </a:solidFill>
            <a:prstDash val="solid"/>
          </a:ln>
        </p:spPr>
        <p:txBody>
          <a:bodyPr/>
          <a:lstStyle/>
          <a:p>
            <a:endParaRPr lang="en-US"/>
          </a:p>
        </p:txBody>
      </p:sp>
      <p:sp>
        <p:nvSpPr>
          <p:cNvPr id="36" name="Text 34"/>
          <p:cNvSpPr/>
          <p:nvPr/>
        </p:nvSpPr>
        <p:spPr>
          <a:xfrm>
            <a:off x="8278368" y="3959352"/>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Signal: driver AI-route adoption</a:t>
            </a:r>
            <a:endParaRPr lang="en-US" sz="1150" dirty="0"/>
          </a:p>
        </p:txBody>
      </p:sp>
      <p:sp>
        <p:nvSpPr>
          <p:cNvPr id="37" name="Text 35"/>
          <p:cNvSpPr/>
          <p:nvPr/>
        </p:nvSpPr>
        <p:spPr>
          <a:xfrm>
            <a:off x="8278368" y="4343400"/>
            <a:ext cx="3133344" cy="384048"/>
          </a:xfrm>
          <a:prstGeom prst="rect">
            <a:avLst/>
          </a:prstGeom>
          <a:noFill/>
          <a:ln/>
        </p:spPr>
        <p:txBody>
          <a:bodyPr wrap="square" lIns="0" tIns="0" rIns="0" bIns="0" rtlCol="0" anchor="ctr"/>
          <a:lstStyle/>
          <a:p>
            <a:pPr marL="0" indent="0">
              <a:buNone/>
            </a:pPr>
            <a:r>
              <a:rPr lang="en-US" sz="1150" dirty="0">
                <a:solidFill>
                  <a:srgbClr val="232F3E"/>
                </a:solidFill>
                <a:latin typeface="Arial" pitchFamily="34" charset="0"/>
                <a:ea typeface="Arial" pitchFamily="34" charset="-122"/>
                <a:cs typeface="Arial" pitchFamily="34" charset="-120"/>
              </a:rPr>
              <a:t>ML AUC 1.00</a:t>
            </a:r>
            <a:endParaRPr lang="en-US" sz="1150" dirty="0"/>
          </a:p>
        </p:txBody>
      </p:sp>
      <p:sp>
        <p:nvSpPr>
          <p:cNvPr id="38" name="Shape 36"/>
          <p:cNvSpPr/>
          <p:nvPr/>
        </p:nvSpPr>
        <p:spPr>
          <a:xfrm>
            <a:off x="8241792" y="4764024"/>
            <a:ext cx="3206496" cy="640080"/>
          </a:xfrm>
          <a:prstGeom prst="roundRect">
            <a:avLst>
              <a:gd name="adj" fmla="val 11429"/>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39" name="Text 37"/>
          <p:cNvSpPr/>
          <p:nvPr/>
        </p:nvSpPr>
        <p:spPr>
          <a:xfrm>
            <a:off x="8351520" y="4782312"/>
            <a:ext cx="2987040" cy="603504"/>
          </a:xfrm>
          <a:prstGeom prst="rect">
            <a:avLst/>
          </a:prstGeom>
          <a:noFill/>
          <a:ln/>
        </p:spPr>
        <p:txBody>
          <a:bodyPr wrap="square" lIns="0" tIns="0" rIns="0" bIns="0" rtlCol="0" anchor="ctr"/>
          <a:lstStyle/>
          <a:p>
            <a:pPr marL="0" indent="0">
              <a:buNone/>
            </a:pPr>
            <a:r>
              <a:rPr lang="en-US" sz="1050" b="1" dirty="0">
                <a:solidFill>
                  <a:srgbClr val="232F3E"/>
                </a:solidFill>
                <a:latin typeface="Arial" pitchFamily="34" charset="0"/>
                <a:ea typeface="Arial" pitchFamily="34" charset="-122"/>
                <a:cs typeface="Arial" pitchFamily="34" charset="-120"/>
              </a:rPr>
              <a:t>Exploit + Enhance → +$534M (+18%)</a:t>
            </a:r>
            <a:endParaRPr lang="en-US" sz="1050" dirty="0"/>
          </a:p>
        </p:txBody>
      </p:sp>
      <p:sp>
        <p:nvSpPr>
          <p:cNvPr id="40" name="Text 38"/>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04 - MONTE CARLO SIMULATION</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Full Exposure Distributions (50,000 Trials)</a:t>
            </a:r>
            <a:endParaRPr lang="en-US" sz="2600" dirty="0"/>
          </a:p>
        </p:txBody>
      </p:sp>
      <p:sp>
        <p:nvSpPr>
          <p:cNvPr id="4" name="Text 2"/>
          <p:cNvSpPr/>
          <p:nvPr/>
        </p:nvSpPr>
        <p:spPr>
          <a:xfrm>
            <a:off x="548640" y="1371600"/>
            <a:ext cx="11064240" cy="502920"/>
          </a:xfrm>
          <a:prstGeom prst="rect">
            <a:avLst/>
          </a:prstGeom>
          <a:noFill/>
          <a:ln/>
        </p:spPr>
        <p:txBody>
          <a:bodyPr wrap="square" lIns="0" tIns="0" rIns="0" bIns="0" rtlCol="0" anchor="ctr"/>
          <a:lstStyle/>
          <a:p>
            <a:pPr marL="0" indent="0">
              <a:buNone/>
            </a:pPr>
            <a:r>
              <a:rPr lang="en-US" sz="1150" dirty="0">
                <a:solidFill>
                  <a:srgbClr val="5A6470"/>
                </a:solidFill>
                <a:latin typeface="Arial" pitchFamily="34" charset="0"/>
                <a:ea typeface="Arial" pitchFamily="34" charset="-122"/>
                <a:cs typeface="Arial" pitchFamily="34" charset="-120"/>
              </a:rPr>
              <a:t>Each trial draws a probability (Beta) and a conditional impact (PERT). The spread - not just the mean - is what justifies sizing contingency reserves against the P95 tail rather than the average.</a:t>
            </a:r>
            <a:endParaRPr lang="en-US" sz="1150" dirty="0"/>
          </a:p>
        </p:txBody>
      </p:sp>
      <p:pic>
        <p:nvPicPr>
          <p:cNvPr id="5" name="Image 0" descr="/home/claude/fig1_monte_carlo.png"/>
          <p:cNvPicPr>
            <a:picLocks noChangeAspect="1"/>
          </p:cNvPicPr>
          <p:nvPr/>
        </p:nvPicPr>
        <p:blipFill>
          <a:blip r:embed="rId3"/>
          <a:stretch>
            <a:fillRect/>
          </a:stretch>
        </p:blipFill>
        <p:spPr>
          <a:xfrm>
            <a:off x="344785" y="2103120"/>
            <a:ext cx="10948055" cy="2866292"/>
          </a:xfrm>
          <a:prstGeom prst="rect">
            <a:avLst/>
          </a:prstGeom>
        </p:spPr>
      </p:pic>
      <p:sp>
        <p:nvSpPr>
          <p:cNvPr id="6" name="Text 3"/>
          <p:cNvSpPr/>
          <p:nvPr/>
        </p:nvSpPr>
        <p:spPr>
          <a:xfrm>
            <a:off x="548640" y="5035882"/>
            <a:ext cx="11064240" cy="457200"/>
          </a:xfrm>
          <a:prstGeom prst="rect">
            <a:avLst/>
          </a:prstGeom>
          <a:noFill/>
          <a:ln/>
        </p:spPr>
        <p:txBody>
          <a:bodyPr wrap="square" lIns="0" tIns="0" rIns="0" bIns="0" rtlCol="0" anchor="ctr"/>
          <a:lstStyle/>
          <a:p>
            <a:pPr marL="0" indent="0" algn="ctr">
              <a:buNone/>
            </a:pPr>
            <a:r>
              <a:rPr lang="en-US" sz="1050" b="1" dirty="0">
                <a:solidFill>
                  <a:srgbClr val="5A6470"/>
                </a:solidFill>
                <a:latin typeface="Arial" pitchFamily="34" charset="0"/>
                <a:ea typeface="Arial" pitchFamily="34" charset="-122"/>
                <a:cs typeface="Arial" pitchFamily="34" charset="-120"/>
              </a:rPr>
              <a:t>Figure 1. Panels labeled R1–R3 as in the notebook (PR1–PR3 here). Gold line = expected impact; dashed line = P95 (downside for PR1/PR2, upside for PR3).</a:t>
            </a:r>
            <a:endParaRPr lang="en-US" sz="1050" b="1" dirty="0"/>
          </a:p>
        </p:txBody>
      </p:sp>
      <p:sp>
        <p:nvSpPr>
          <p:cNvPr id="7" name="Text 4"/>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05 - RISK RESPONSE STRATEGY</a:t>
            </a:r>
            <a:endParaRPr lang="en-US" sz="1200" dirty="0"/>
          </a:p>
        </p:txBody>
      </p:sp>
      <p:sp>
        <p:nvSpPr>
          <p:cNvPr id="3" name="Text 1"/>
          <p:cNvSpPr/>
          <p:nvPr/>
        </p:nvSpPr>
        <p:spPr>
          <a:xfrm>
            <a:off x="548640" y="749808"/>
            <a:ext cx="1133856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Treatment Aligned to Internal &amp; External Environment</a:t>
            </a:r>
            <a:endParaRPr lang="en-US" sz="2600" dirty="0"/>
          </a:p>
        </p:txBody>
      </p:sp>
      <p:sp>
        <p:nvSpPr>
          <p:cNvPr id="4" name="Shape 2"/>
          <p:cNvSpPr/>
          <p:nvPr/>
        </p:nvSpPr>
        <p:spPr>
          <a:xfrm>
            <a:off x="548640" y="1600200"/>
            <a:ext cx="3535680" cy="443484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sz="2400"/>
          </a:p>
        </p:txBody>
      </p:sp>
      <p:sp>
        <p:nvSpPr>
          <p:cNvPr id="5" name="Shape 3"/>
          <p:cNvSpPr/>
          <p:nvPr/>
        </p:nvSpPr>
        <p:spPr>
          <a:xfrm>
            <a:off x="548640" y="1600200"/>
            <a:ext cx="3535680" cy="502920"/>
          </a:xfrm>
          <a:prstGeom prst="roundRect">
            <a:avLst>
              <a:gd name="adj" fmla="val 14545"/>
            </a:avLst>
          </a:prstGeom>
          <a:solidFill>
            <a:srgbClr val="232F3E"/>
          </a:solidFill>
          <a:ln/>
        </p:spPr>
        <p:txBody>
          <a:bodyPr/>
          <a:lstStyle/>
          <a:p>
            <a:endParaRPr lang="en-US"/>
          </a:p>
        </p:txBody>
      </p:sp>
      <p:sp>
        <p:nvSpPr>
          <p:cNvPr id="6" name="Shape 4"/>
          <p:cNvSpPr/>
          <p:nvPr/>
        </p:nvSpPr>
        <p:spPr>
          <a:xfrm>
            <a:off x="548640" y="1856232"/>
            <a:ext cx="3535680" cy="246888"/>
          </a:xfrm>
          <a:prstGeom prst="rect">
            <a:avLst/>
          </a:prstGeom>
          <a:solidFill>
            <a:srgbClr val="232F3E"/>
          </a:solidFill>
          <a:ln/>
        </p:spPr>
        <p:txBody>
          <a:bodyPr/>
          <a:lstStyle/>
          <a:p>
            <a:endParaRPr lang="en-US"/>
          </a:p>
        </p:txBody>
      </p:sp>
      <p:sp>
        <p:nvSpPr>
          <p:cNvPr id="7" name="Text 5"/>
          <p:cNvSpPr/>
          <p:nvPr/>
        </p:nvSpPr>
        <p:spPr>
          <a:xfrm>
            <a:off x="731520" y="1600200"/>
            <a:ext cx="316992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PR1  |  MITIGATE</a:t>
            </a:r>
            <a:endParaRPr lang="en-US" sz="1300" dirty="0"/>
          </a:p>
        </p:txBody>
      </p:sp>
      <p:sp>
        <p:nvSpPr>
          <p:cNvPr id="8" name="Text 6"/>
          <p:cNvSpPr/>
          <p:nvPr/>
        </p:nvSpPr>
        <p:spPr>
          <a:xfrm>
            <a:off x="749808" y="2258568"/>
            <a:ext cx="3151632" cy="29260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Pre-launch benchmarking vs ORION/Surround; close top feature gaps</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Hire 15–20 enterprise sales engineers before the first RFP</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Tiered introductory pricing within FTC conduct limits</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Win-rate dashboard; pause commercialization if &lt; 40% for 2 quarters</a:t>
            </a:r>
            <a:endParaRPr lang="en-US" sz="1300" dirty="0"/>
          </a:p>
        </p:txBody>
      </p:sp>
      <p:sp>
        <p:nvSpPr>
          <p:cNvPr id="9" name="Shape 7"/>
          <p:cNvSpPr/>
          <p:nvPr/>
        </p:nvSpPr>
        <p:spPr>
          <a:xfrm>
            <a:off x="713232" y="5166360"/>
            <a:ext cx="3206496" cy="749808"/>
          </a:xfrm>
          <a:prstGeom prst="roundRect">
            <a:avLst>
              <a:gd name="adj" fmla="val 9756"/>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0" name="Text 8"/>
          <p:cNvSpPr/>
          <p:nvPr/>
        </p:nvSpPr>
        <p:spPr>
          <a:xfrm>
            <a:off x="822960" y="5212080"/>
            <a:ext cx="2987040" cy="658368"/>
          </a:xfrm>
          <a:prstGeom prst="rect">
            <a:avLst/>
          </a:prstGeom>
          <a:noFill/>
          <a:ln/>
        </p:spPr>
        <p:txBody>
          <a:bodyPr wrap="square" lIns="0" tIns="0" rIns="0" bIns="0" rtlCol="0" anchor="ctr"/>
          <a:lstStyle/>
          <a:p>
            <a:pPr marL="0" indent="0">
              <a:buNone/>
            </a:pPr>
            <a:r>
              <a:rPr lang="en-US" sz="950" b="1" dirty="0">
                <a:solidFill>
                  <a:srgbClr val="5A6470"/>
                </a:solidFill>
                <a:latin typeface="Arial" pitchFamily="34" charset="0"/>
                <a:ea typeface="Arial" pitchFamily="34" charset="-122"/>
                <a:cs typeface="Arial" pitchFamily="34" charset="-120"/>
              </a:rPr>
              <a:t>Env: FTC antitrust trial (Oct 2026) limits pricing freedom.</a:t>
            </a:r>
            <a:endParaRPr lang="en-US" sz="950" b="1" dirty="0"/>
          </a:p>
        </p:txBody>
      </p:sp>
      <p:sp>
        <p:nvSpPr>
          <p:cNvPr id="11" name="Shape 9"/>
          <p:cNvSpPr/>
          <p:nvPr/>
        </p:nvSpPr>
        <p:spPr>
          <a:xfrm>
            <a:off x="4312920" y="1600200"/>
            <a:ext cx="3535680" cy="443484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2" name="Shape 10"/>
          <p:cNvSpPr/>
          <p:nvPr/>
        </p:nvSpPr>
        <p:spPr>
          <a:xfrm>
            <a:off x="4312920" y="1600200"/>
            <a:ext cx="3535680" cy="502920"/>
          </a:xfrm>
          <a:prstGeom prst="roundRect">
            <a:avLst>
              <a:gd name="adj" fmla="val 14545"/>
            </a:avLst>
          </a:prstGeom>
          <a:solidFill>
            <a:srgbClr val="146EB4"/>
          </a:solidFill>
          <a:ln/>
        </p:spPr>
        <p:txBody>
          <a:bodyPr/>
          <a:lstStyle/>
          <a:p>
            <a:endParaRPr lang="en-US"/>
          </a:p>
        </p:txBody>
      </p:sp>
      <p:sp>
        <p:nvSpPr>
          <p:cNvPr id="13" name="Shape 11"/>
          <p:cNvSpPr/>
          <p:nvPr/>
        </p:nvSpPr>
        <p:spPr>
          <a:xfrm>
            <a:off x="4312920" y="1856232"/>
            <a:ext cx="3535680" cy="246888"/>
          </a:xfrm>
          <a:prstGeom prst="rect">
            <a:avLst/>
          </a:prstGeom>
          <a:solidFill>
            <a:srgbClr val="146EB4"/>
          </a:solidFill>
          <a:ln/>
        </p:spPr>
        <p:txBody>
          <a:bodyPr/>
          <a:lstStyle/>
          <a:p>
            <a:endParaRPr lang="en-US"/>
          </a:p>
        </p:txBody>
      </p:sp>
      <p:sp>
        <p:nvSpPr>
          <p:cNvPr id="14" name="Text 12"/>
          <p:cNvSpPr/>
          <p:nvPr/>
        </p:nvSpPr>
        <p:spPr>
          <a:xfrm>
            <a:off x="4495800" y="1600200"/>
            <a:ext cx="3169920" cy="502920"/>
          </a:xfrm>
          <a:prstGeom prst="rect">
            <a:avLst/>
          </a:prstGeom>
          <a:noFill/>
          <a:ln/>
        </p:spPr>
        <p:txBody>
          <a:bodyPr wrap="square" lIns="0" tIns="0" rIns="0" bIns="0" rtlCol="0" anchor="ctr"/>
          <a:lstStyle/>
          <a:p>
            <a:pPr marL="0" indent="0">
              <a:buNone/>
            </a:pPr>
            <a:r>
              <a:rPr lang="en-US" sz="1300" b="1" dirty="0">
                <a:solidFill>
                  <a:srgbClr val="FFFFFF"/>
                </a:solidFill>
                <a:latin typeface="Arial" pitchFamily="34" charset="0"/>
                <a:ea typeface="Arial" pitchFamily="34" charset="-122"/>
                <a:cs typeface="Arial" pitchFamily="34" charset="-120"/>
              </a:rPr>
              <a:t>PR2  |  MITIGATE + TRANSFER</a:t>
            </a:r>
            <a:endParaRPr lang="en-US" sz="1300" dirty="0"/>
          </a:p>
        </p:txBody>
      </p:sp>
      <p:sp>
        <p:nvSpPr>
          <p:cNvPr id="15" name="Text 13"/>
          <p:cNvSpPr/>
          <p:nvPr/>
        </p:nvSpPr>
        <p:spPr>
          <a:xfrm>
            <a:off x="4514088" y="2258568"/>
            <a:ext cx="3151632" cy="29260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Zero-trust as a hard launch gate - before any live data</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API gateway with anomaly detection; CISO escalation in 15 min</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Logistics cyber insurance up to $50M / incident</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Tested delivery-data incident-response playbook</a:t>
            </a:r>
            <a:endParaRPr lang="en-US" sz="1300" dirty="0"/>
          </a:p>
        </p:txBody>
      </p:sp>
      <p:sp>
        <p:nvSpPr>
          <p:cNvPr id="16" name="Shape 14"/>
          <p:cNvSpPr/>
          <p:nvPr/>
        </p:nvSpPr>
        <p:spPr>
          <a:xfrm>
            <a:off x="4477512" y="5166360"/>
            <a:ext cx="3206496" cy="749808"/>
          </a:xfrm>
          <a:prstGeom prst="roundRect">
            <a:avLst>
              <a:gd name="adj" fmla="val 9756"/>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7" name="Text 15"/>
          <p:cNvSpPr/>
          <p:nvPr/>
        </p:nvSpPr>
        <p:spPr>
          <a:xfrm>
            <a:off x="4587240" y="5212080"/>
            <a:ext cx="2987040" cy="658368"/>
          </a:xfrm>
          <a:prstGeom prst="rect">
            <a:avLst/>
          </a:prstGeom>
          <a:noFill/>
          <a:ln/>
        </p:spPr>
        <p:txBody>
          <a:bodyPr wrap="square" lIns="0" tIns="0" rIns="0" bIns="0" rtlCol="0" anchor="ctr"/>
          <a:lstStyle/>
          <a:p>
            <a:pPr marL="0" indent="0">
              <a:buNone/>
            </a:pPr>
            <a:r>
              <a:rPr lang="en-US" sz="950" dirty="0">
                <a:solidFill>
                  <a:srgbClr val="5A6470"/>
                </a:solidFill>
                <a:latin typeface="Arial" pitchFamily="34" charset="0"/>
                <a:ea typeface="Arial" pitchFamily="34" charset="-122"/>
                <a:cs typeface="Arial" pitchFamily="34" charset="-120"/>
              </a:rPr>
              <a:t>Env: CCPA $7,500/violation × 200M+ customers sizes the insurance floor.</a:t>
            </a:r>
            <a:endParaRPr lang="en-US" sz="950" dirty="0"/>
          </a:p>
        </p:txBody>
      </p:sp>
      <p:sp>
        <p:nvSpPr>
          <p:cNvPr id="18" name="Shape 16"/>
          <p:cNvSpPr/>
          <p:nvPr/>
        </p:nvSpPr>
        <p:spPr>
          <a:xfrm>
            <a:off x="8077200" y="1600200"/>
            <a:ext cx="3535680" cy="4434840"/>
          </a:xfrm>
          <a:prstGeom prst="roundRect">
            <a:avLst>
              <a:gd name="adj" fmla="val 2069"/>
            </a:avLst>
          </a:prstGeom>
          <a:solidFill>
            <a:srgbClr val="FFFFFF"/>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19" name="Shape 17"/>
          <p:cNvSpPr/>
          <p:nvPr/>
        </p:nvSpPr>
        <p:spPr>
          <a:xfrm>
            <a:off x="8077200" y="1600200"/>
            <a:ext cx="3535680" cy="502920"/>
          </a:xfrm>
          <a:prstGeom prst="roundRect">
            <a:avLst>
              <a:gd name="adj" fmla="val 14545"/>
            </a:avLst>
          </a:prstGeom>
          <a:solidFill>
            <a:srgbClr val="FF9900"/>
          </a:solidFill>
          <a:ln/>
        </p:spPr>
        <p:txBody>
          <a:bodyPr/>
          <a:lstStyle/>
          <a:p>
            <a:endParaRPr lang="en-US"/>
          </a:p>
        </p:txBody>
      </p:sp>
      <p:sp>
        <p:nvSpPr>
          <p:cNvPr id="20" name="Shape 18"/>
          <p:cNvSpPr/>
          <p:nvPr/>
        </p:nvSpPr>
        <p:spPr>
          <a:xfrm>
            <a:off x="8077200" y="1856232"/>
            <a:ext cx="3535680" cy="246888"/>
          </a:xfrm>
          <a:prstGeom prst="rect">
            <a:avLst/>
          </a:prstGeom>
          <a:solidFill>
            <a:srgbClr val="FF9900"/>
          </a:solidFill>
          <a:ln/>
        </p:spPr>
        <p:txBody>
          <a:bodyPr/>
          <a:lstStyle/>
          <a:p>
            <a:endParaRPr lang="en-US"/>
          </a:p>
        </p:txBody>
      </p:sp>
      <p:sp>
        <p:nvSpPr>
          <p:cNvPr id="21" name="Text 19"/>
          <p:cNvSpPr/>
          <p:nvPr/>
        </p:nvSpPr>
        <p:spPr>
          <a:xfrm>
            <a:off x="8260080" y="1600200"/>
            <a:ext cx="3169920" cy="502920"/>
          </a:xfrm>
          <a:prstGeom prst="rect">
            <a:avLst/>
          </a:prstGeom>
          <a:noFill/>
          <a:ln/>
        </p:spPr>
        <p:txBody>
          <a:bodyPr wrap="square" lIns="0" tIns="0" rIns="0" bIns="0" rtlCol="0" anchor="ctr"/>
          <a:lstStyle/>
          <a:p>
            <a:pPr marL="0" indent="0">
              <a:buNone/>
            </a:pPr>
            <a:r>
              <a:rPr lang="en-US" sz="1300" b="1" dirty="0">
                <a:solidFill>
                  <a:srgbClr val="232F3E"/>
                </a:solidFill>
                <a:latin typeface="Arial" pitchFamily="34" charset="0"/>
                <a:ea typeface="Arial" pitchFamily="34" charset="-122"/>
                <a:cs typeface="Arial" pitchFamily="34" charset="-120"/>
              </a:rPr>
              <a:t>PR3  |  EXPLOIT + ENHANCE</a:t>
            </a:r>
            <a:endParaRPr lang="en-US" sz="1300" dirty="0"/>
          </a:p>
        </p:txBody>
      </p:sp>
      <p:sp>
        <p:nvSpPr>
          <p:cNvPr id="22" name="Text 20"/>
          <p:cNvSpPr/>
          <p:nvPr/>
        </p:nvSpPr>
        <p:spPr>
          <a:xfrm>
            <a:off x="8278368" y="2258568"/>
            <a:ext cx="3151632" cy="292608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Scale from 3-city pilot to 50+ stations in 18 months</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Driver-adoption program → 80% per market within 6 months</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Pre-comply with California Clean Miles before deadline</a:t>
            </a:r>
            <a:endParaRPr lang="en-US" sz="1300" dirty="0"/>
          </a:p>
          <a:p>
            <a:pPr marL="177800" indent="-177800">
              <a:spcAft>
                <a:spcPts val="700"/>
              </a:spcAft>
              <a:buSzPct val="100000"/>
              <a:buChar char="•"/>
            </a:pPr>
            <a:r>
              <a:rPr lang="en-US" sz="1300" dirty="0">
                <a:solidFill>
                  <a:srgbClr val="232F3E"/>
                </a:solidFill>
                <a:latin typeface="Arial" pitchFamily="34" charset="0"/>
                <a:ea typeface="Arial" pitchFamily="34" charset="-122"/>
                <a:cs typeface="Arial" pitchFamily="34" charset="-120"/>
              </a:rPr>
              <a:t>Public CO₂ KPI anchored to ORION’s 100M-miles benchmark</a:t>
            </a:r>
            <a:endParaRPr lang="en-US" sz="1300" dirty="0"/>
          </a:p>
        </p:txBody>
      </p:sp>
      <p:sp>
        <p:nvSpPr>
          <p:cNvPr id="23" name="Shape 21"/>
          <p:cNvSpPr/>
          <p:nvPr/>
        </p:nvSpPr>
        <p:spPr>
          <a:xfrm>
            <a:off x="8241792" y="5166360"/>
            <a:ext cx="3206496" cy="749808"/>
          </a:xfrm>
          <a:prstGeom prst="roundRect">
            <a:avLst>
              <a:gd name="adj" fmla="val 9756"/>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24" name="Text 22"/>
          <p:cNvSpPr/>
          <p:nvPr/>
        </p:nvSpPr>
        <p:spPr>
          <a:xfrm>
            <a:off x="8351520" y="5212080"/>
            <a:ext cx="2987040" cy="658368"/>
          </a:xfrm>
          <a:prstGeom prst="rect">
            <a:avLst/>
          </a:prstGeom>
          <a:noFill/>
          <a:ln/>
        </p:spPr>
        <p:txBody>
          <a:bodyPr wrap="square" lIns="0" tIns="0" rIns="0" bIns="0" rtlCol="0" anchor="ctr"/>
          <a:lstStyle/>
          <a:p>
            <a:pPr marL="0" indent="0">
              <a:buNone/>
            </a:pPr>
            <a:r>
              <a:rPr lang="en-US" sz="950" dirty="0">
                <a:solidFill>
                  <a:srgbClr val="5A6470"/>
                </a:solidFill>
                <a:latin typeface="Arial" pitchFamily="34" charset="0"/>
                <a:ea typeface="Arial" pitchFamily="34" charset="-122"/>
                <a:cs typeface="Arial" pitchFamily="34" charset="-120"/>
              </a:rPr>
              <a:t>Env: Clean Miles + EU urban-access mandates create an access moat.</a:t>
            </a:r>
            <a:endParaRPr lang="en-US" sz="950" dirty="0"/>
          </a:p>
        </p:txBody>
      </p:sp>
      <p:sp>
        <p:nvSpPr>
          <p:cNvPr id="25" name="Text 23"/>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05 - KEY RISK INDICATORS &amp; TRIGGER POINTS</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Monitoring Framework (CRISP-DM Aligned)</a:t>
            </a:r>
            <a:endParaRPr lang="en-US" sz="2600" dirty="0"/>
          </a:p>
        </p:txBody>
      </p:sp>
      <p:sp>
        <p:nvSpPr>
          <p:cNvPr id="4" name="Text 2"/>
          <p:cNvSpPr/>
          <p:nvPr/>
        </p:nvSpPr>
        <p:spPr>
          <a:xfrm>
            <a:off x="548640" y="1371600"/>
            <a:ext cx="10972800" cy="320040"/>
          </a:xfrm>
          <a:prstGeom prst="rect">
            <a:avLst/>
          </a:prstGeom>
          <a:noFill/>
          <a:ln/>
        </p:spPr>
        <p:txBody>
          <a:bodyPr wrap="square" lIns="0" tIns="0" rIns="0" bIns="0" rtlCol="0" anchor="ctr"/>
          <a:lstStyle/>
          <a:p>
            <a:pPr marL="0" indent="0">
              <a:buNone/>
            </a:pPr>
            <a:r>
              <a:rPr lang="en-US" sz="1150" dirty="0">
                <a:solidFill>
                  <a:srgbClr val="5A6470"/>
                </a:solidFill>
                <a:latin typeface="Arial" pitchFamily="34" charset="0"/>
                <a:ea typeface="Arial" pitchFamily="34" charset="-122"/>
                <a:cs typeface="Arial" pitchFamily="34" charset="-120"/>
              </a:rPr>
              <a:t>Every KRI gives 30–90 days of advance warning and draws on the dominant ML signal for its risk; each red trigger is benchmark-anchored (see next slide).</a:t>
            </a:r>
            <a:endParaRPr lang="en-US" sz="1150" dirty="0"/>
          </a:p>
        </p:txBody>
      </p:sp>
      <p:graphicFrame>
        <p:nvGraphicFramePr>
          <p:cNvPr id="11" name="Table 0"/>
          <p:cNvGraphicFramePr>
            <a:graphicFrameLocks noGrp="1"/>
          </p:cNvGraphicFramePr>
          <p:nvPr>
            <p:extLst>
              <p:ext uri="{D42A27DB-BD31-4B8C-83A1-F6EECF244321}">
                <p14:modId xmlns:p14="http://schemas.microsoft.com/office/powerpoint/2010/main" val="2886671216"/>
              </p:ext>
            </p:extLst>
          </p:nvPr>
        </p:nvGraphicFramePr>
        <p:xfrm>
          <a:off x="548640" y="1828800"/>
          <a:ext cx="11064240" cy="3767328"/>
        </p:xfrm>
        <a:graphic>
          <a:graphicData uri="http://schemas.openxmlformats.org/drawingml/2006/table">
            <a:tbl>
              <a:tblPr/>
              <a:tblGrid>
                <a:gridCol w="68580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4434840">
                  <a:extLst>
                    <a:ext uri="{9D8B030D-6E8A-4147-A177-3AD203B41FA5}">
                      <a16:colId xmlns:a16="http://schemas.microsoft.com/office/drawing/2014/main" val="20004"/>
                    </a:ext>
                  </a:extLst>
                </a:gridCol>
                <a:gridCol w="868680">
                  <a:extLst>
                    <a:ext uri="{9D8B030D-6E8A-4147-A177-3AD203B41FA5}">
                      <a16:colId xmlns:a16="http://schemas.microsoft.com/office/drawing/2014/main" val="20005"/>
                    </a:ext>
                  </a:extLst>
                </a:gridCol>
              </a:tblGrid>
              <a:tr h="365760">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Risk</a:t>
                      </a:r>
                      <a:endParaRPr lang="en-US" sz="16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KRI metric</a:t>
                      </a:r>
                      <a:endParaRPr lang="en-US" sz="16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Green</a:t>
                      </a:r>
                      <a:endParaRPr lang="en-US" sz="16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1E7D45"/>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Amber</a:t>
                      </a:r>
                      <a:endParaRPr lang="en-US" sz="16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B26B00"/>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Red - trigger &amp; response</a:t>
                      </a:r>
                      <a:endParaRPr lang="en-US" sz="16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B23A2E"/>
                    </a:solidFill>
                  </a:tcPr>
                </a:tc>
                <a:tc>
                  <a:txBody>
                    <a:bodyPr/>
                    <a:lstStyle/>
                    <a:p>
                      <a:pPr marL="0" indent="0" algn="ctr">
                        <a:buNone/>
                      </a:pPr>
                      <a:r>
                        <a:rPr lang="en-US" sz="1600" b="1" dirty="0">
                          <a:solidFill>
                            <a:srgbClr val="FFFFFF"/>
                          </a:solidFill>
                          <a:latin typeface="Arial" pitchFamily="34" charset="0"/>
                          <a:ea typeface="Arial" pitchFamily="34" charset="-122"/>
                          <a:cs typeface="Arial" pitchFamily="34" charset="-120"/>
                        </a:rPr>
                        <a:t>Freq.</a:t>
                      </a:r>
                      <a:endParaRPr lang="en-US" sz="16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566928">
                <a:tc>
                  <a:txBody>
                    <a:bodyPr/>
                    <a:lstStyle/>
                    <a:p>
                      <a:pPr marL="0" indent="0" algn="ctr">
                        <a:buNone/>
                      </a:pPr>
                      <a:r>
                        <a:rPr lang="en-US" sz="1200" b="1" dirty="0">
                          <a:solidFill>
                            <a:srgbClr val="232F3E"/>
                          </a:solidFill>
                          <a:latin typeface="Arial" pitchFamily="34" charset="0"/>
                          <a:ea typeface="Arial" pitchFamily="34" charset="-122"/>
                          <a:cs typeface="Arial" pitchFamily="34" charset="-120"/>
                        </a:rPr>
                        <a:t>PR1</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Enterprise win-rate vs ORION/Surround</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 50%</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40–49%</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&lt; 40% for 2 quarters → pause commercialization + VP review</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Qtrly</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ctr">
                        <a:buNone/>
                      </a:pPr>
                      <a:r>
                        <a:rPr lang="en-US" sz="1200" b="1" dirty="0">
                          <a:solidFill>
                            <a:srgbClr val="232F3E"/>
                          </a:solidFill>
                          <a:latin typeface="Arial" pitchFamily="34" charset="0"/>
                          <a:ea typeface="Arial" pitchFamily="34" charset="-122"/>
                          <a:cs typeface="Arial" pitchFamily="34" charset="-120"/>
                        </a:rPr>
                        <a:t>PR1</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Sales-engineering headcount vs target</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 90%</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75–89%</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&lt; 75% → emergency recruiting + CEO escalation</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Monthly</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lgn="ctr">
                        <a:buNone/>
                      </a:pPr>
                      <a:r>
                        <a:rPr lang="en-US" sz="1200" b="1" dirty="0">
                          <a:solidFill>
                            <a:srgbClr val="232F3E"/>
                          </a:solidFill>
                          <a:latin typeface="Arial" pitchFamily="34" charset="0"/>
                          <a:ea typeface="Arial" pitchFamily="34" charset="-122"/>
                          <a:cs typeface="Arial" pitchFamily="34" charset="-120"/>
                        </a:rPr>
                        <a:t>PR2</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Critical vulns past 15-day SLA</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Zero</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1–2 near limit</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Any vuln &gt; 15 days → patch sprint + board notice</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Weekly</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lgn="ctr">
                        <a:buNone/>
                      </a:pPr>
                      <a:r>
                        <a:rPr lang="en-US" sz="1200" b="1" dirty="0">
                          <a:solidFill>
                            <a:srgbClr val="232F3E"/>
                          </a:solidFill>
                          <a:latin typeface="Arial" pitchFamily="34" charset="0"/>
                          <a:ea typeface="Arial" pitchFamily="34" charset="-122"/>
                          <a:cs typeface="Arial" pitchFamily="34" charset="-120"/>
                        </a:rPr>
                        <a:t>PR2</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Anomalous geo-API / unauthorized access</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Zero</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Elevated volume</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Any confirmed access → API lockdown + CCPA 72h clock</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Cont.</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lgn="ctr">
                        <a:buNone/>
                      </a:pPr>
                      <a:r>
                        <a:rPr lang="en-US" sz="1200" b="1" dirty="0">
                          <a:solidFill>
                            <a:srgbClr val="232F3E"/>
                          </a:solidFill>
                          <a:latin typeface="Arial" pitchFamily="34" charset="0"/>
                          <a:ea typeface="Arial" pitchFamily="34" charset="-122"/>
                          <a:cs typeface="Arial" pitchFamily="34" charset="-120"/>
                        </a:rPr>
                        <a:t>PR3</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Per-package cost reduction vs baseline</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 15%</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5–14%</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&lt; 5% → suspend expansion + model audit</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Monthly</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lgn="ctr">
                        <a:buNone/>
                      </a:pPr>
                      <a:r>
                        <a:rPr lang="en-US" sz="1200" b="1" dirty="0">
                          <a:solidFill>
                            <a:srgbClr val="232F3E"/>
                          </a:solidFill>
                          <a:latin typeface="Arial" pitchFamily="34" charset="0"/>
                          <a:ea typeface="Arial" pitchFamily="34" charset="-122"/>
                          <a:cs typeface="Arial" pitchFamily="34" charset="-120"/>
                        </a:rPr>
                        <a:t>PR3</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Driver adoption of AI routes</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 80%</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60–79%</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buNone/>
                      </a:pPr>
                      <a:r>
                        <a:rPr lang="en-US" sz="1200" dirty="0">
                          <a:solidFill>
                            <a:srgbClr val="232F3E"/>
                          </a:solidFill>
                          <a:latin typeface="Arial" pitchFamily="34" charset="0"/>
                          <a:ea typeface="Arial" pitchFamily="34" charset="-122"/>
                          <a:cs typeface="Arial" pitchFamily="34" charset="-120"/>
                        </a:rPr>
                        <a:t>&lt; 60% (or &lt; 80% after 6 mo) → DSP review + incentives</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tc>
                  <a:txBody>
                    <a:bodyPr/>
                    <a:lstStyle/>
                    <a:p>
                      <a:pPr marL="0" indent="0" algn="ctr">
                        <a:buNone/>
                      </a:pPr>
                      <a:r>
                        <a:rPr lang="en-US" sz="1200" dirty="0">
                          <a:solidFill>
                            <a:srgbClr val="232F3E"/>
                          </a:solidFill>
                          <a:latin typeface="Arial" pitchFamily="34" charset="0"/>
                          <a:ea typeface="Arial" pitchFamily="34" charset="-122"/>
                          <a:cs typeface="Arial" pitchFamily="34" charset="-120"/>
                        </a:rPr>
                        <a:t>Monthly</a:t>
                      </a:r>
                      <a:endParaRPr lang="en-US" sz="1200" dirty="0">
                        <a:latin typeface="Arial" charset="0"/>
                        <a:ea typeface="Arial" charset="0"/>
                        <a:cs typeface="Arial" charset="0"/>
                      </a:endParaRPr>
                    </a:p>
                  </a:txBody>
                  <a:tcPr marL="63500" marR="63500" marT="38100" marB="3810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04 - QUANTITATIVE RISK ASSESSMENT</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Warning-Threshold Calibration — Benchmark Basis</a:t>
            </a:r>
            <a:endParaRPr lang="en-US" sz="2600" dirty="0"/>
          </a:p>
        </p:txBody>
      </p:sp>
      <p:sp>
        <p:nvSpPr>
          <p:cNvPr id="4" name="Text 2"/>
          <p:cNvSpPr/>
          <p:nvPr/>
        </p:nvSpPr>
        <p:spPr>
          <a:xfrm>
            <a:off x="548640" y="1371600"/>
            <a:ext cx="10972800" cy="365760"/>
          </a:xfrm>
          <a:prstGeom prst="rect">
            <a:avLst/>
          </a:prstGeom>
          <a:noFill/>
          <a:ln/>
        </p:spPr>
        <p:txBody>
          <a:bodyPr wrap="square" lIns="0" tIns="0" rIns="0" bIns="0" rtlCol="0" anchor="ctr"/>
          <a:lstStyle/>
          <a:p>
            <a:pPr marL="0" indent="0">
              <a:buNone/>
            </a:pPr>
            <a:r>
              <a:rPr lang="en-US" sz="1150" dirty="0">
                <a:solidFill>
                  <a:srgbClr val="5A6470"/>
                </a:solidFill>
                <a:latin typeface="Arial" pitchFamily="34" charset="0"/>
                <a:ea typeface="Arial" pitchFamily="34" charset="-122"/>
                <a:cs typeface="Arial" pitchFamily="34" charset="-120"/>
              </a:rPr>
              <a:t>In response to feedback that thresholds appeared generic, every red trigger is anchored to a published logistics, sales, or cybersecurity benchmark rather than set by convention.</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3263247398"/>
              </p:ext>
            </p:extLst>
          </p:nvPr>
        </p:nvGraphicFramePr>
        <p:xfrm>
          <a:off x="548640" y="1760000"/>
          <a:ext cx="11064240" cy="3412000"/>
        </p:xfrm>
        <a:graphic>
          <a:graphicData uri="http://schemas.openxmlformats.org/drawingml/2006/table">
            <a:tbl>
              <a:tblPr/>
              <a:tblGrid>
                <a:gridCol w="2520000">
                  <a:extLst>
                    <a:ext uri="{9D8B030D-6E8A-4147-A177-3AD203B41FA5}">
                      <a16:colId xmlns:a16="http://schemas.microsoft.com/office/drawing/2014/main" val="20000"/>
                    </a:ext>
                  </a:extLst>
                </a:gridCol>
                <a:gridCol w="2020000">
                  <a:extLst>
                    <a:ext uri="{9D8B030D-6E8A-4147-A177-3AD203B41FA5}">
                      <a16:colId xmlns:a16="http://schemas.microsoft.com/office/drawing/2014/main" val="20001"/>
                    </a:ext>
                  </a:extLst>
                </a:gridCol>
                <a:gridCol w="4460000">
                  <a:extLst>
                    <a:ext uri="{9D8B030D-6E8A-4147-A177-3AD203B41FA5}">
                      <a16:colId xmlns:a16="http://schemas.microsoft.com/office/drawing/2014/main" val="20002"/>
                    </a:ext>
                  </a:extLst>
                </a:gridCol>
                <a:gridCol w="2064240">
                  <a:extLst>
                    <a:ext uri="{9D8B030D-6E8A-4147-A177-3AD203B41FA5}">
                      <a16:colId xmlns:a16="http://schemas.microsoft.com/office/drawing/2014/main" val="20003"/>
                    </a:ext>
                  </a:extLst>
                </a:gridCol>
              </a:tblGrid>
              <a:tr h="372000">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Threshold</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Where used</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Benchmark basis (why this cut-off)</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tc>
                  <a:txBody>
                    <a:bodyPr/>
                    <a:lstStyle/>
                    <a:p>
                      <a:pPr marL="0" indent="0" algn="ctr">
                        <a:buNone/>
                      </a:pPr>
                      <a:r>
                        <a:rPr lang="en-US" sz="1300" b="1" dirty="0">
                          <a:solidFill>
                            <a:srgbClr val="FFFFFF"/>
                          </a:solidFill>
                          <a:latin typeface="Arial" pitchFamily="34" charset="0"/>
                          <a:ea typeface="Arial" pitchFamily="34" charset="-122"/>
                          <a:cs typeface="Arial" pitchFamily="34" charset="-120"/>
                        </a:rPr>
                        <a:t>Source</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232F3E"/>
                    </a:solidFill>
                  </a:tcPr>
                </a:tc>
                <a:extLst>
                  <a:ext uri="{0D108BD9-81ED-4DB2-BD59-A6C34878D82A}">
                    <a16:rowId xmlns:a16="http://schemas.microsoft.com/office/drawing/2014/main" val="10000"/>
                  </a:ext>
                </a:extLst>
              </a:tr>
              <a:tr h="760000">
                <a:tc>
                  <a:txBody>
                    <a:bodyPr/>
                    <a:lstStyle/>
                    <a:p>
                      <a:pPr marL="0" indent="0" algn="l">
                        <a:buNone/>
                      </a:pPr>
                      <a:r>
                        <a:rPr lang="en-US" sz="1150" b="1" dirty="0">
                          <a:solidFill>
                            <a:srgbClr val="232F3E"/>
                          </a:solidFill>
                          <a:latin typeface="Arial" pitchFamily="34" charset="0"/>
                          <a:ea typeface="Arial" pitchFamily="34" charset="-122"/>
                          <a:cs typeface="Arial" pitchFamily="34" charset="-120"/>
                        </a:rPr>
                        <a:t>Composite ≥ 0.55 → Red</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32F3E"/>
                          </a:solidFill>
                          <a:latin typeface="Arial" pitchFamily="34" charset="0"/>
                          <a:ea typeface="Arial" pitchFamily="34" charset="-122"/>
                          <a:cs typeface="Arial" pitchFamily="34" charset="-120"/>
                        </a:rPr>
                        <a:t>Master escalation trigger (all three priority risks)</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A434E"/>
                          </a:solidFill>
                          <a:latin typeface="Arial" pitchFamily="34" charset="0"/>
                          <a:ea typeface="Arial" pitchFamily="34" charset="-122"/>
                          <a:cs typeface="Arial" pitchFamily="34" charset="-120"/>
                        </a:rPr>
                        <a:t>Maps to the High–Very-High band of the register (40/81 ≈ 0.49; 54/81 ≈ 0.67) — fires where the firm already requires active executive mitigation.</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6470"/>
                          </a:solidFill>
                          <a:latin typeface="Arial" pitchFamily="34" charset="0"/>
                          <a:ea typeface="Arial" pitchFamily="34" charset="-122"/>
                          <a:cs typeface="Arial" pitchFamily="34" charset="-120"/>
                        </a:rPr>
                        <a:t>ISO 31000:2018; COSO ERM (2017)</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60000">
                <a:tc>
                  <a:txBody>
                    <a:bodyPr/>
                    <a:lstStyle/>
                    <a:p>
                      <a:pPr marL="0" indent="0" algn="l">
                        <a:buNone/>
                      </a:pPr>
                      <a:r>
                        <a:rPr lang="en-US" sz="1150" b="1" dirty="0">
                          <a:solidFill>
                            <a:srgbClr val="1F6FB2"/>
                          </a:solidFill>
                          <a:latin typeface="Arial" pitchFamily="34" charset="0"/>
                          <a:ea typeface="Arial" pitchFamily="34" charset="-122"/>
                          <a:cs typeface="Arial" pitchFamily="34" charset="-120"/>
                        </a:rPr>
                        <a:t>PR1: win-rate &lt; 40% for two quarters → Red</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tc>
                  <a:txBody>
                    <a:bodyPr/>
                    <a:lstStyle/>
                    <a:p>
                      <a:pPr marL="0" indent="0" algn="l">
                        <a:buNone/>
                      </a:pPr>
                      <a:r>
                        <a:rPr lang="en-US" sz="1050" dirty="0">
                          <a:solidFill>
                            <a:srgbClr val="232F3E"/>
                          </a:solidFill>
                          <a:latin typeface="Arial" pitchFamily="34" charset="0"/>
                          <a:ea typeface="Arial" pitchFamily="34" charset="-122"/>
                          <a:cs typeface="Arial" pitchFamily="34" charset="-120"/>
                        </a:rPr>
                        <a:t>win-rate-gap indicator</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tc>
                  <a:txBody>
                    <a:bodyPr/>
                    <a:lstStyle/>
                    <a:p>
                      <a:pPr marL="0" indent="0" algn="l">
                        <a:buNone/>
                      </a:pPr>
                      <a:r>
                        <a:rPr lang="en-US" sz="1050" dirty="0">
                          <a:solidFill>
                            <a:srgbClr val="3A434E"/>
                          </a:solidFill>
                          <a:latin typeface="Arial" pitchFamily="34" charset="0"/>
                          <a:ea typeface="Arial" pitchFamily="34" charset="-122"/>
                          <a:cs typeface="Arial" pitchFamily="34" charset="-120"/>
                        </a:rPr>
                        <a:t>Competitive B2B win-rates average ≈ 47% (RAIN Group) and ≈ 21% blended (HubSpot); sub-40% versus ORION / Surround means losing most head-to-head bake-offs.</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tc>
                  <a:txBody>
                    <a:bodyPr/>
                    <a:lstStyle/>
                    <a:p>
                      <a:pPr marL="0" indent="0" algn="l">
                        <a:buNone/>
                      </a:pPr>
                      <a:r>
                        <a:rPr lang="en-US" sz="1000" dirty="0">
                          <a:solidFill>
                            <a:srgbClr val="5A6470"/>
                          </a:solidFill>
                          <a:latin typeface="Arial" pitchFamily="34" charset="0"/>
                          <a:ea typeface="Arial" pitchFamily="34" charset="-122"/>
                          <a:cs typeface="Arial" pitchFamily="34" charset="-120"/>
                        </a:rPr>
                        <a:t>RAIN Group (2023); HubSpot (2024)</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extLst>
                  <a:ext uri="{0D108BD9-81ED-4DB2-BD59-A6C34878D82A}">
                    <a16:rowId xmlns:a16="http://schemas.microsoft.com/office/drawing/2014/main" val="10002"/>
                  </a:ext>
                </a:extLst>
              </a:tr>
              <a:tr h="760000">
                <a:tc>
                  <a:txBody>
                    <a:bodyPr/>
                    <a:lstStyle/>
                    <a:p>
                      <a:pPr marL="0" indent="0" algn="l">
                        <a:buNone/>
                      </a:pPr>
                      <a:r>
                        <a:rPr lang="en-US" sz="1150" b="1" dirty="0">
                          <a:solidFill>
                            <a:srgbClr val="C0392B"/>
                          </a:solidFill>
                          <a:latin typeface="Arial" pitchFamily="34" charset="0"/>
                          <a:ea typeface="Arial" pitchFamily="34" charset="-122"/>
                          <a:cs typeface="Arial" pitchFamily="34" charset="-120"/>
                        </a:rPr>
                        <a:t>PR2: critical vuln open &gt; 15 days → Red</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32F3E"/>
                          </a:solidFill>
                          <a:latin typeface="Arial" pitchFamily="34" charset="0"/>
                          <a:ea typeface="Arial" pitchFamily="34" charset="-122"/>
                          <a:cs typeface="Arial" pitchFamily="34" charset="-120"/>
                        </a:rPr>
                        <a:t>vulns-past-SLA indicator</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tc>
                  <a:txBody>
                    <a:bodyPr/>
                    <a:lstStyle/>
                    <a:p>
                      <a:pPr marL="0" indent="0" algn="l">
                        <a:buNone/>
                      </a:pPr>
                      <a:r>
                        <a:rPr lang="en-US" sz="1050" dirty="0">
                          <a:solidFill>
                            <a:srgbClr val="3A434E"/>
                          </a:solidFill>
                          <a:latin typeface="Arial" pitchFamily="34" charset="0"/>
                          <a:ea typeface="Arial" pitchFamily="34" charset="-122"/>
                          <a:cs typeface="Arial" pitchFamily="34" charset="-120"/>
                        </a:rPr>
                        <a:t>CISA BOD 19-02 sets a 15-day remediation deadline for critical vulnerabilities on internet-facing systems; reinforced by IBM’s 241-day mean breach lifecycle.</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tc>
                  <a:txBody>
                    <a:bodyPr/>
                    <a:lstStyle/>
                    <a:p>
                      <a:pPr marL="0" indent="0" algn="l">
                        <a:buNone/>
                      </a:pPr>
                      <a:r>
                        <a:rPr lang="en-US" sz="1000" dirty="0">
                          <a:solidFill>
                            <a:srgbClr val="5A6470"/>
                          </a:solidFill>
                          <a:latin typeface="Arial" pitchFamily="34" charset="0"/>
                          <a:ea typeface="Arial" pitchFamily="34" charset="-122"/>
                          <a:cs typeface="Arial" pitchFamily="34" charset="-120"/>
                        </a:rPr>
                        <a:t>CISA BOD 19-02; IBM (2025)</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60000">
                <a:tc>
                  <a:txBody>
                    <a:bodyPr/>
                    <a:lstStyle/>
                    <a:p>
                      <a:pPr marL="0" indent="0" algn="l">
                        <a:buNone/>
                      </a:pPr>
                      <a:r>
                        <a:rPr lang="en-US" sz="1150" b="1" dirty="0">
                          <a:solidFill>
                            <a:srgbClr val="1F8A4C"/>
                          </a:solidFill>
                          <a:latin typeface="Arial" pitchFamily="34" charset="0"/>
                          <a:ea typeface="Arial" pitchFamily="34" charset="-122"/>
                          <a:cs typeface="Arial" pitchFamily="34" charset="-120"/>
                        </a:rPr>
                        <a:t>PR3: cost reduction &lt; 5% → opportunity not materializing</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tc>
                  <a:txBody>
                    <a:bodyPr/>
                    <a:lstStyle/>
                    <a:p>
                      <a:pPr marL="0" indent="0" algn="l">
                        <a:buNone/>
                      </a:pPr>
                      <a:r>
                        <a:rPr lang="en-US" sz="1050" dirty="0">
                          <a:solidFill>
                            <a:srgbClr val="232F3E"/>
                          </a:solidFill>
                          <a:latin typeface="Arial" pitchFamily="34" charset="0"/>
                          <a:ea typeface="Arial" pitchFamily="34" charset="-122"/>
                          <a:cs typeface="Arial" pitchFamily="34" charset="-120"/>
                        </a:rPr>
                        <a:t>cost-reduction indicator</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tc>
                  <a:txBody>
                    <a:bodyPr/>
                    <a:lstStyle/>
                    <a:p>
                      <a:pPr marL="0" indent="0" algn="l">
                        <a:buNone/>
                      </a:pPr>
                      <a:r>
                        <a:rPr lang="en-US" sz="1050" dirty="0">
                          <a:solidFill>
                            <a:srgbClr val="3A434E"/>
                          </a:solidFill>
                          <a:latin typeface="Arial" pitchFamily="34" charset="0"/>
                          <a:ea typeface="Arial" pitchFamily="34" charset="-122"/>
                          <a:cs typeface="Arial" pitchFamily="34" charset="-120"/>
                        </a:rPr>
                        <a:t>Documented AI route-optimization savings run 15–30%; the conservative INFORMS / ORION floor is ≈ 5%. Below 5% the platform underperforms the weakest benchmark and the value thesis fails.</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tc>
                  <a:txBody>
                    <a:bodyPr/>
                    <a:lstStyle/>
                    <a:p>
                      <a:pPr marL="0" indent="0" algn="l">
                        <a:buNone/>
                      </a:pPr>
                      <a:r>
                        <a:rPr lang="en-US" sz="1000" dirty="0">
                          <a:solidFill>
                            <a:srgbClr val="5A6470"/>
                          </a:solidFill>
                          <a:latin typeface="Arial" pitchFamily="34" charset="0"/>
                          <a:ea typeface="Arial" pitchFamily="34" charset="-122"/>
                          <a:cs typeface="Arial" pitchFamily="34" charset="-120"/>
                        </a:rPr>
                        <a:t>INFORMS / ORION; Shuaibu et al. (2025)</a:t>
                      </a:r>
                    </a:p>
                  </a:txBody>
                  <a:tcPr marL="68580" marR="68580" marT="41910" marB="41910" anchor="ctr">
                    <a:lnL w="6350" cap="flat" cmpd="sng" algn="ctr">
                      <a:solidFill>
                        <a:srgbClr val="D2D5D9"/>
                      </a:solidFill>
                      <a:prstDash val="solid"/>
                      <a:round/>
                      <a:headEnd type="none" w="med" len="med"/>
                      <a:tailEnd type="none" w="med" len="med"/>
                    </a:lnL>
                    <a:lnR w="6350" cap="flat" cmpd="sng" algn="ctr">
                      <a:solidFill>
                        <a:srgbClr val="D2D5D9"/>
                      </a:solidFill>
                      <a:prstDash val="solid"/>
                      <a:round/>
                      <a:headEnd type="none" w="med" len="med"/>
                      <a:tailEnd type="none" w="med" len="med"/>
                    </a:lnR>
                    <a:lnT w="6350" cap="flat" cmpd="sng" algn="ctr">
                      <a:solidFill>
                        <a:srgbClr val="D2D5D9"/>
                      </a:solidFill>
                      <a:prstDash val="solid"/>
                      <a:round/>
                      <a:headEnd type="none" w="med" len="med"/>
                      <a:tailEnd type="none" w="med" len="med"/>
                    </a:lnT>
                    <a:lnB w="6350" cap="flat" cmpd="sng" algn="ctr">
                      <a:solidFill>
                        <a:srgbClr val="D2D5D9"/>
                      </a:solidFill>
                      <a:prstDash val="solid"/>
                      <a:round/>
                      <a:headEnd type="none" w="med" len="med"/>
                      <a:tailEnd type="none" w="med" len="med"/>
                    </a:lnB>
                    <a:solidFill>
                      <a:srgbClr val="F6F8FA"/>
                    </a:solidFill>
                  </a:tcPr>
                </a:tc>
                <a:extLst>
                  <a:ext uri="{0D108BD9-81ED-4DB2-BD59-A6C34878D82A}">
                    <a16:rowId xmlns:a16="http://schemas.microsoft.com/office/drawing/2014/main" val="10004"/>
                  </a:ext>
                </a:extLst>
              </a:tr>
            </a:tbl>
          </a:graphicData>
        </a:graphic>
      </p:graphicFrame>
      <p:sp>
        <p:nvSpPr>
          <p:cNvPr id="6" name="Shape 3"/>
          <p:cNvSpPr/>
          <p:nvPr/>
        </p:nvSpPr>
        <p:spPr>
          <a:xfrm>
            <a:off x="548640" y="5486400"/>
            <a:ext cx="11064240" cy="685800"/>
          </a:xfrm>
          <a:prstGeom prst="roundRect">
            <a:avLst>
              <a:gd name="adj" fmla="val 10667"/>
            </a:avLst>
          </a:prstGeom>
          <a:solidFill>
            <a:srgbClr val="F2F3F3"/>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5" name="Text 4"/>
          <p:cNvSpPr/>
          <p:nvPr/>
        </p:nvSpPr>
        <p:spPr>
          <a:xfrm>
            <a:off x="822960" y="5532120"/>
            <a:ext cx="10515600" cy="594360"/>
          </a:xfrm>
          <a:prstGeom prst="rect">
            <a:avLst/>
          </a:prstGeom>
          <a:noFill/>
          <a:ln/>
        </p:spPr>
        <p:txBody>
          <a:bodyPr wrap="square" lIns="0" tIns="0" rIns="0" bIns="0" rtlCol="0" anchor="ctr"/>
          <a:lstStyle/>
          <a:p>
            <a:pPr marL="0" indent="0">
              <a:buNone/>
            </a:pPr>
            <a:r>
              <a:rPr lang="en-US" sz="1200" b="1" dirty="0">
                <a:solidFill>
                  <a:srgbClr val="FF9900"/>
                </a:solidFill>
                <a:latin typeface="Arial" pitchFamily="34" charset="0"/>
                <a:ea typeface="Arial" pitchFamily="34" charset="-122"/>
                <a:cs typeface="Arial" pitchFamily="34" charset="-120"/>
              </a:rPr>
              <a:t>Bottom line:  </a:t>
            </a:r>
            <a:r>
              <a:rPr lang="en-US" sz="1200" dirty="0">
                <a:solidFill>
                  <a:srgbClr val="232F3E"/>
                </a:solidFill>
                <a:latin typeface="Arial" pitchFamily="34" charset="0"/>
                <a:ea typeface="Arial" pitchFamily="34" charset="-122"/>
                <a:cs typeface="Arial" pitchFamily="34" charset="-120"/>
              </a:rPr>
              <a:t>each warning level is benchmark-derived, so a red state marks an exposure external evidence already treats as unacceptable.</a:t>
            </a:r>
            <a:endParaRPr lang="en-US" sz="1200" dirty="0"/>
          </a:p>
        </p:txBody>
      </p:sp>
      <p:sp>
        <p:nvSpPr>
          <p:cNvPr id="8" name="Text 5"/>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232F3E"/>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06 - CONCLUSION &amp; RECOMMENDATIONS</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FFFFFF"/>
                </a:solidFill>
                <a:latin typeface="Arial" pitchFamily="34" charset="0"/>
                <a:ea typeface="Arial" pitchFamily="34" charset="-122"/>
                <a:cs typeface="Arial" pitchFamily="34" charset="-120"/>
              </a:rPr>
              <a:t>Proceed - Under an Active ERM Program</a:t>
            </a:r>
            <a:endParaRPr lang="en-US" sz="2600" dirty="0"/>
          </a:p>
        </p:txBody>
      </p:sp>
      <p:sp>
        <p:nvSpPr>
          <p:cNvPr id="4" name="Shape 2"/>
          <p:cNvSpPr/>
          <p:nvPr/>
        </p:nvSpPr>
        <p:spPr>
          <a:xfrm>
            <a:off x="548640" y="1691640"/>
            <a:ext cx="5120640" cy="1828800"/>
          </a:xfrm>
          <a:prstGeom prst="roundRect">
            <a:avLst>
              <a:gd name="adj" fmla="val 4000"/>
            </a:avLst>
          </a:prstGeom>
          <a:solidFill>
            <a:srgbClr val="2C3A4A"/>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a:p>
        </p:txBody>
      </p:sp>
      <p:sp>
        <p:nvSpPr>
          <p:cNvPr id="5" name="Text 3"/>
          <p:cNvSpPr/>
          <p:nvPr/>
        </p:nvSpPr>
        <p:spPr>
          <a:xfrm>
            <a:off x="822960" y="1874520"/>
            <a:ext cx="4572000" cy="320040"/>
          </a:xfrm>
          <a:prstGeom prst="rect">
            <a:avLst/>
          </a:prstGeom>
          <a:noFill/>
          <a:ln/>
        </p:spPr>
        <p:txBody>
          <a:bodyPr wrap="square" lIns="0" tIns="0" rIns="0" bIns="0" rtlCol="0" anchor="ctr"/>
          <a:lstStyle/>
          <a:p>
            <a:pPr marL="0" indent="0">
              <a:buNone/>
            </a:pPr>
            <a:r>
              <a:rPr lang="en-US" sz="1200" b="1" dirty="0">
                <a:solidFill>
                  <a:srgbClr val="FF9900"/>
                </a:solidFill>
                <a:latin typeface="Arial" pitchFamily="34" charset="0"/>
                <a:ea typeface="Arial" pitchFamily="34" charset="-122"/>
                <a:cs typeface="Arial" pitchFamily="34" charset="-120"/>
              </a:rPr>
              <a:t>NET PORTFOLIO VALUE AFTER TREATMENT</a:t>
            </a:r>
            <a:endParaRPr lang="en-US" sz="1200" dirty="0"/>
          </a:p>
        </p:txBody>
      </p:sp>
      <p:sp>
        <p:nvSpPr>
          <p:cNvPr id="6" name="Text 4"/>
          <p:cNvSpPr/>
          <p:nvPr/>
        </p:nvSpPr>
        <p:spPr>
          <a:xfrm>
            <a:off x="822960" y="2240280"/>
            <a:ext cx="4572000" cy="73152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+$191M</a:t>
            </a:r>
            <a:endParaRPr lang="en-US" sz="4000" dirty="0"/>
          </a:p>
        </p:txBody>
      </p:sp>
      <p:sp>
        <p:nvSpPr>
          <p:cNvPr id="7" name="Text 5"/>
          <p:cNvSpPr/>
          <p:nvPr/>
        </p:nvSpPr>
        <p:spPr>
          <a:xfrm>
            <a:off x="822960" y="3017520"/>
            <a:ext cx="4572000" cy="457200"/>
          </a:xfrm>
          <a:prstGeom prst="rect">
            <a:avLst/>
          </a:prstGeom>
          <a:noFill/>
          <a:ln/>
        </p:spPr>
        <p:txBody>
          <a:bodyPr wrap="square" lIns="0" tIns="0" rIns="0" bIns="0" rtlCol="0" anchor="ctr"/>
          <a:lstStyle/>
          <a:p>
            <a:pPr marL="0" indent="0">
              <a:buNone/>
            </a:pPr>
            <a:r>
              <a:rPr lang="en-US" sz="1050" dirty="0">
                <a:solidFill>
                  <a:srgbClr val="D7DBDF"/>
                </a:solidFill>
                <a:latin typeface="Arial" pitchFamily="34" charset="0"/>
                <a:ea typeface="Arial" pitchFamily="34" charset="-122"/>
                <a:cs typeface="Arial" pitchFamily="34" charset="-120"/>
              </a:rPr>
              <a:t>−$239M (PR1)   −$104M (PR2)   +$534M (PR3),  before strategic option value</a:t>
            </a:r>
            <a:endParaRPr lang="en-US" sz="1050" dirty="0"/>
          </a:p>
        </p:txBody>
      </p:sp>
      <p:sp>
        <p:nvSpPr>
          <p:cNvPr id="8" name="Text 6"/>
          <p:cNvSpPr/>
          <p:nvPr/>
        </p:nvSpPr>
        <p:spPr>
          <a:xfrm>
            <a:off x="5943600" y="1783080"/>
            <a:ext cx="5669280" cy="320040"/>
          </a:xfrm>
          <a:prstGeom prst="rect">
            <a:avLst/>
          </a:prstGeom>
          <a:noFill/>
          <a:ln/>
        </p:spPr>
        <p:txBody>
          <a:bodyPr wrap="square" lIns="0" tIns="0" rIns="0" bIns="0" rtlCol="0" anchor="ctr"/>
          <a:lstStyle/>
          <a:p>
            <a:pPr marL="0" indent="0">
              <a:buNone/>
            </a:pPr>
            <a:r>
              <a:rPr lang="en-US" sz="1200" b="1" dirty="0">
                <a:solidFill>
                  <a:srgbClr val="FF9900"/>
                </a:solidFill>
                <a:latin typeface="Arial" pitchFamily="34" charset="0"/>
                <a:ea typeface="Arial" pitchFamily="34" charset="-122"/>
                <a:cs typeface="Arial" pitchFamily="34" charset="-120"/>
              </a:rPr>
              <a:t>THREE NON-NEGOTIABLE CONDITIONS</a:t>
            </a:r>
            <a:endParaRPr lang="en-US" sz="1200" dirty="0"/>
          </a:p>
        </p:txBody>
      </p:sp>
      <p:sp>
        <p:nvSpPr>
          <p:cNvPr id="9" name="Shape 7"/>
          <p:cNvSpPr/>
          <p:nvPr/>
        </p:nvSpPr>
        <p:spPr>
          <a:xfrm>
            <a:off x="5943600" y="2194560"/>
            <a:ext cx="457200" cy="457200"/>
          </a:xfrm>
          <a:prstGeom prst="ellipse">
            <a:avLst/>
          </a:prstGeom>
          <a:solidFill>
            <a:srgbClr val="FF9900"/>
          </a:solidFill>
          <a:ln/>
        </p:spPr>
        <p:txBody>
          <a:bodyPr/>
          <a:lstStyle/>
          <a:p>
            <a:endParaRPr lang="en-US"/>
          </a:p>
        </p:txBody>
      </p:sp>
      <p:sp>
        <p:nvSpPr>
          <p:cNvPr id="10" name="Text 8"/>
          <p:cNvSpPr/>
          <p:nvPr/>
        </p:nvSpPr>
        <p:spPr>
          <a:xfrm>
            <a:off x="5943600" y="2194560"/>
            <a:ext cx="457200" cy="457200"/>
          </a:xfrm>
          <a:prstGeom prst="rect">
            <a:avLst/>
          </a:prstGeom>
          <a:noFill/>
          <a:ln/>
        </p:spPr>
        <p:txBody>
          <a:bodyPr wrap="square" lIns="0" tIns="0" rIns="0" bIns="0" rtlCol="0" anchor="ctr"/>
          <a:lstStyle/>
          <a:p>
            <a:pPr marL="0" indent="0" algn="ctr">
              <a:buNone/>
            </a:pPr>
            <a:r>
              <a:rPr lang="en-US" sz="1500" b="1" dirty="0">
                <a:solidFill>
                  <a:srgbClr val="232F3E"/>
                </a:solidFill>
                <a:latin typeface="Arial" pitchFamily="34" charset="0"/>
                <a:ea typeface="Arial" pitchFamily="34" charset="-122"/>
                <a:cs typeface="Arial" pitchFamily="34" charset="-120"/>
              </a:rPr>
              <a:t>01</a:t>
            </a:r>
            <a:endParaRPr lang="en-US" sz="1500" dirty="0"/>
          </a:p>
        </p:txBody>
      </p:sp>
      <p:sp>
        <p:nvSpPr>
          <p:cNvPr id="11" name="Text 9"/>
          <p:cNvSpPr/>
          <p:nvPr/>
        </p:nvSpPr>
        <p:spPr>
          <a:xfrm>
            <a:off x="6537960" y="2194560"/>
            <a:ext cx="5029200" cy="4572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Zero-trust before any live customer-data integration</a:t>
            </a:r>
            <a:endParaRPr lang="en-US" sz="1300" dirty="0"/>
          </a:p>
        </p:txBody>
      </p:sp>
      <p:sp>
        <p:nvSpPr>
          <p:cNvPr id="12" name="Shape 10"/>
          <p:cNvSpPr/>
          <p:nvPr/>
        </p:nvSpPr>
        <p:spPr>
          <a:xfrm>
            <a:off x="5943600" y="2852928"/>
            <a:ext cx="457200" cy="457200"/>
          </a:xfrm>
          <a:prstGeom prst="ellipse">
            <a:avLst/>
          </a:prstGeom>
          <a:solidFill>
            <a:srgbClr val="FF9900"/>
          </a:solidFill>
          <a:ln/>
        </p:spPr>
        <p:txBody>
          <a:bodyPr/>
          <a:lstStyle/>
          <a:p>
            <a:endParaRPr lang="en-US"/>
          </a:p>
        </p:txBody>
      </p:sp>
      <p:sp>
        <p:nvSpPr>
          <p:cNvPr id="13" name="Text 11"/>
          <p:cNvSpPr/>
          <p:nvPr/>
        </p:nvSpPr>
        <p:spPr>
          <a:xfrm>
            <a:off x="5943600" y="2852928"/>
            <a:ext cx="457200" cy="457200"/>
          </a:xfrm>
          <a:prstGeom prst="rect">
            <a:avLst/>
          </a:prstGeom>
          <a:noFill/>
          <a:ln/>
        </p:spPr>
        <p:txBody>
          <a:bodyPr wrap="square" lIns="0" tIns="0" rIns="0" bIns="0" rtlCol="0" anchor="ctr"/>
          <a:lstStyle/>
          <a:p>
            <a:pPr marL="0" indent="0" algn="ctr">
              <a:buNone/>
            </a:pPr>
            <a:r>
              <a:rPr lang="en-US" sz="1500" b="1" dirty="0">
                <a:solidFill>
                  <a:srgbClr val="232F3E"/>
                </a:solidFill>
                <a:latin typeface="Arial" pitchFamily="34" charset="0"/>
                <a:ea typeface="Arial" pitchFamily="34" charset="-122"/>
                <a:cs typeface="Arial" pitchFamily="34" charset="-120"/>
              </a:rPr>
              <a:t>02</a:t>
            </a:r>
            <a:endParaRPr lang="en-US" sz="1500" dirty="0"/>
          </a:p>
        </p:txBody>
      </p:sp>
      <p:sp>
        <p:nvSpPr>
          <p:cNvPr id="14" name="Text 12"/>
          <p:cNvSpPr/>
          <p:nvPr/>
        </p:nvSpPr>
        <p:spPr>
          <a:xfrm>
            <a:off x="6537960" y="2852928"/>
            <a:ext cx="5029200" cy="4572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Pre-launch sales-engineering team of ≥ 15 FTEs</a:t>
            </a:r>
            <a:endParaRPr lang="en-US" sz="1300" dirty="0"/>
          </a:p>
        </p:txBody>
      </p:sp>
      <p:sp>
        <p:nvSpPr>
          <p:cNvPr id="15" name="Shape 13"/>
          <p:cNvSpPr/>
          <p:nvPr/>
        </p:nvSpPr>
        <p:spPr>
          <a:xfrm>
            <a:off x="5943600" y="3511296"/>
            <a:ext cx="457200" cy="457200"/>
          </a:xfrm>
          <a:prstGeom prst="ellipse">
            <a:avLst/>
          </a:prstGeom>
          <a:solidFill>
            <a:srgbClr val="FF9900"/>
          </a:solidFill>
          <a:ln/>
        </p:spPr>
        <p:txBody>
          <a:bodyPr/>
          <a:lstStyle/>
          <a:p>
            <a:endParaRPr lang="en-US"/>
          </a:p>
        </p:txBody>
      </p:sp>
      <p:sp>
        <p:nvSpPr>
          <p:cNvPr id="16" name="Text 14"/>
          <p:cNvSpPr/>
          <p:nvPr/>
        </p:nvSpPr>
        <p:spPr>
          <a:xfrm>
            <a:off x="5943600" y="3511296"/>
            <a:ext cx="457200" cy="457200"/>
          </a:xfrm>
          <a:prstGeom prst="rect">
            <a:avLst/>
          </a:prstGeom>
          <a:noFill/>
          <a:ln/>
        </p:spPr>
        <p:txBody>
          <a:bodyPr wrap="square" lIns="0" tIns="0" rIns="0" bIns="0" rtlCol="0" anchor="ctr"/>
          <a:lstStyle/>
          <a:p>
            <a:pPr marL="0" indent="0" algn="ctr">
              <a:buNone/>
            </a:pPr>
            <a:r>
              <a:rPr lang="en-US" sz="1500" b="1" dirty="0">
                <a:solidFill>
                  <a:srgbClr val="232F3E"/>
                </a:solidFill>
                <a:latin typeface="Arial" pitchFamily="34" charset="0"/>
                <a:ea typeface="Arial" pitchFamily="34" charset="-122"/>
                <a:cs typeface="Arial" pitchFamily="34" charset="-120"/>
              </a:rPr>
              <a:t>03</a:t>
            </a:r>
            <a:endParaRPr lang="en-US" sz="1500" dirty="0"/>
          </a:p>
        </p:txBody>
      </p:sp>
      <p:sp>
        <p:nvSpPr>
          <p:cNvPr id="17" name="Text 15"/>
          <p:cNvSpPr/>
          <p:nvPr/>
        </p:nvSpPr>
        <p:spPr>
          <a:xfrm>
            <a:off x="6537960" y="3511296"/>
            <a:ext cx="5029200" cy="457200"/>
          </a:xfrm>
          <a:prstGeom prst="rect">
            <a:avLst/>
          </a:prstGeom>
          <a:noFill/>
          <a:ln/>
        </p:spPr>
        <p:txBody>
          <a:bodyPr wrap="square" lIns="0" tIns="0" rIns="0" bIns="0" rtlCol="0" anchor="ctr"/>
          <a:lstStyle/>
          <a:p>
            <a:pPr marL="0" indent="0">
              <a:buNone/>
            </a:pPr>
            <a:r>
              <a:rPr lang="en-US" sz="1300" dirty="0">
                <a:solidFill>
                  <a:srgbClr val="FFFFFF"/>
                </a:solidFill>
                <a:latin typeface="Arial" pitchFamily="34" charset="0"/>
                <a:ea typeface="Arial" pitchFamily="34" charset="-122"/>
                <a:cs typeface="Arial" pitchFamily="34" charset="-120"/>
              </a:rPr>
              <a:t>80% driver-adoption target per market, monitored monthly</a:t>
            </a:r>
            <a:endParaRPr lang="en-US" sz="1300" dirty="0"/>
          </a:p>
        </p:txBody>
      </p:sp>
      <p:sp>
        <p:nvSpPr>
          <p:cNvPr id="18" name="Shape 16"/>
          <p:cNvSpPr/>
          <p:nvPr/>
        </p:nvSpPr>
        <p:spPr>
          <a:xfrm>
            <a:off x="548640" y="4160520"/>
            <a:ext cx="11064240" cy="2011680"/>
          </a:xfrm>
          <a:prstGeom prst="roundRect">
            <a:avLst>
              <a:gd name="adj" fmla="val 3636"/>
            </a:avLst>
          </a:prstGeom>
          <a:solidFill>
            <a:srgbClr val="2C3A4A"/>
          </a:solidFill>
          <a:ln w="9525">
            <a:solidFill>
              <a:srgbClr val="E3E5E8"/>
            </a:solidFill>
            <a:prstDash val="solid"/>
          </a:ln>
          <a:effectLst>
            <a:outerShdw blurRad="88900" dist="38100" dir="5400000" algn="bl" rotWithShape="0">
              <a:srgbClr val="000000">
                <a:alpha val="16000"/>
              </a:srgbClr>
            </a:outerShdw>
          </a:effectLst>
        </p:spPr>
        <p:txBody>
          <a:bodyPr/>
          <a:lstStyle/>
          <a:p>
            <a:endParaRPr lang="en-US" sz="1600"/>
          </a:p>
        </p:txBody>
      </p:sp>
      <p:sp>
        <p:nvSpPr>
          <p:cNvPr id="19" name="Text 17"/>
          <p:cNvSpPr/>
          <p:nvPr/>
        </p:nvSpPr>
        <p:spPr>
          <a:xfrm>
            <a:off x="822960" y="4297680"/>
            <a:ext cx="10515600" cy="320040"/>
          </a:xfrm>
          <a:prstGeom prst="rect">
            <a:avLst/>
          </a:prstGeom>
          <a:noFill/>
          <a:ln/>
        </p:spPr>
        <p:txBody>
          <a:bodyPr wrap="square" lIns="0" tIns="0" rIns="0" bIns="0" rtlCol="0" anchor="ctr"/>
          <a:lstStyle/>
          <a:p>
            <a:pPr marL="0" indent="0">
              <a:buNone/>
            </a:pPr>
            <a:r>
              <a:rPr lang="en-US" sz="1200" b="1" dirty="0">
                <a:solidFill>
                  <a:srgbClr val="FF9900"/>
                </a:solidFill>
                <a:latin typeface="Arial" pitchFamily="34" charset="0"/>
                <a:ea typeface="Arial" pitchFamily="34" charset="-122"/>
                <a:cs typeface="Arial" pitchFamily="34" charset="-120"/>
              </a:rPr>
              <a:t>SUMMARY FINDINGS</a:t>
            </a:r>
            <a:endParaRPr lang="en-US" sz="1200" dirty="0"/>
          </a:p>
        </p:txBody>
      </p:sp>
      <p:sp>
        <p:nvSpPr>
          <p:cNvPr id="20" name="Text 18"/>
          <p:cNvSpPr/>
          <p:nvPr/>
        </p:nvSpPr>
        <p:spPr>
          <a:xfrm>
            <a:off x="822960" y="4663440"/>
            <a:ext cx="10515600" cy="1417320"/>
          </a:xfrm>
          <a:prstGeom prst="rect">
            <a:avLst/>
          </a:prstGeom>
          <a:noFill/>
          <a:ln/>
        </p:spPr>
        <p:txBody>
          <a:bodyPr wrap="square" lIns="0" tIns="0" rIns="0" bIns="0" rtlCol="0" anchor="t"/>
          <a:lstStyle/>
          <a:p>
            <a:pPr marL="177800" indent="-177800">
              <a:spcAft>
                <a:spcPts val="500"/>
              </a:spcAft>
              <a:buSzPct val="100000"/>
              <a:buChar char="•"/>
            </a:pPr>
            <a:r>
              <a:rPr lang="en-US" sz="1400" dirty="0">
                <a:solidFill>
                  <a:srgbClr val="E8EAED"/>
                </a:solidFill>
                <a:latin typeface="Arial" pitchFamily="34" charset="0"/>
                <a:ea typeface="Arial" pitchFamily="34" charset="-122"/>
                <a:cs typeface="Arial" pitchFamily="34" charset="-120"/>
              </a:rPr>
              <a:t>PR2 carries the highest tail ($701M P95) despite moderate probability - zero-trust is a launch gate, not an IT project.</a:t>
            </a:r>
            <a:endParaRPr lang="en-US" sz="1400" dirty="0"/>
          </a:p>
          <a:p>
            <a:pPr marL="177800" indent="-177800">
              <a:spcAft>
                <a:spcPts val="500"/>
              </a:spcAft>
              <a:buSzPct val="100000"/>
              <a:buChar char="•"/>
            </a:pPr>
            <a:r>
              <a:rPr lang="en-US" sz="1400" dirty="0">
                <a:solidFill>
                  <a:srgbClr val="E8EAED"/>
                </a:solidFill>
                <a:latin typeface="Arial" pitchFamily="34" charset="0"/>
                <a:ea typeface="Arial" pitchFamily="34" charset="-122"/>
                <a:cs typeface="Arial" pitchFamily="34" charset="-120"/>
              </a:rPr>
              <a:t>PR1’s $368M EMV is addressable by closing the sales-engineering gap before launch - the model’s top-priority action.</a:t>
            </a:r>
            <a:endParaRPr lang="en-US" sz="1400" dirty="0"/>
          </a:p>
          <a:p>
            <a:pPr marL="177800" indent="-177800">
              <a:spcAft>
                <a:spcPts val="500"/>
              </a:spcAft>
              <a:buSzPct val="100000"/>
              <a:buChar char="•"/>
            </a:pPr>
            <a:r>
              <a:rPr lang="en-US" sz="1400" dirty="0">
                <a:solidFill>
                  <a:srgbClr val="E8EAED"/>
                </a:solidFill>
                <a:latin typeface="Arial" pitchFamily="34" charset="0"/>
                <a:ea typeface="Arial" pitchFamily="34" charset="-122"/>
                <a:cs typeface="Arial" pitchFamily="34" charset="-120"/>
              </a:rPr>
              <a:t>PR3 offers a +$453M to +$991M upside that erodes by ~$400M for every year of delay against ORION.</a:t>
            </a:r>
            <a:endParaRPr lang="en-US" sz="1400" dirty="0"/>
          </a:p>
          <a:p>
            <a:pPr marL="177800" indent="-177800">
              <a:buSzPct val="100000"/>
              <a:buChar char="•"/>
            </a:pPr>
            <a:r>
              <a:rPr lang="en-US" sz="1400" dirty="0">
                <a:solidFill>
                  <a:srgbClr val="E8EAED"/>
                </a:solidFill>
                <a:latin typeface="Arial" pitchFamily="34" charset="0"/>
                <a:ea typeface="Arial" pitchFamily="34" charset="-122"/>
                <a:cs typeface="Arial" pitchFamily="34" charset="-120"/>
              </a:rPr>
              <a:t>Regulatory inputs (EU AI Act, CCPA, Clean Miles) are model inputs, not background - they calibrate the distributions directly.</a:t>
            </a:r>
            <a:endParaRPr lang="en-US" sz="1400" dirty="0"/>
          </a:p>
        </p:txBody>
      </p:sp>
      <p:sp>
        <p:nvSpPr>
          <p:cNvPr id="21" name="Text 19"/>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57200"/>
            <a:ext cx="8229600" cy="274320"/>
          </a:xfrm>
          <a:prstGeom prst="rect">
            <a:avLst/>
          </a:prstGeom>
          <a:noFill/>
          <a:ln/>
        </p:spPr>
        <p:txBody>
          <a:bodyPr wrap="square" lIns="0" tIns="0" rIns="0" bIns="0" rtlCol="0" anchor="ctr"/>
          <a:lstStyle/>
          <a:p>
            <a:pPr marL="0" indent="0">
              <a:buNone/>
            </a:pPr>
            <a:r>
              <a:rPr lang="en-US" sz="1200" b="1" kern="0" spc="200" dirty="0">
                <a:solidFill>
                  <a:srgbClr val="FF9900"/>
                </a:solidFill>
                <a:latin typeface="Arial" pitchFamily="34" charset="0"/>
                <a:ea typeface="Arial" pitchFamily="34" charset="-122"/>
                <a:cs typeface="Arial" pitchFamily="34" charset="-120"/>
              </a:rPr>
              <a:t>REFERENCES</a:t>
            </a:r>
            <a:endParaRPr lang="en-US" sz="1200" dirty="0"/>
          </a:p>
        </p:txBody>
      </p:sp>
      <p:sp>
        <p:nvSpPr>
          <p:cNvPr id="3" name="Text 1"/>
          <p:cNvSpPr/>
          <p:nvPr/>
        </p:nvSpPr>
        <p:spPr>
          <a:xfrm>
            <a:off x="548640" y="749808"/>
            <a:ext cx="10972800" cy="640080"/>
          </a:xfrm>
          <a:prstGeom prst="rect">
            <a:avLst/>
          </a:prstGeom>
          <a:noFill/>
          <a:ln/>
        </p:spPr>
        <p:txBody>
          <a:bodyPr wrap="square" lIns="0" tIns="0" rIns="0" bIns="0" rtlCol="0" anchor="ctr"/>
          <a:lstStyle/>
          <a:p>
            <a:pPr marL="0" indent="0">
              <a:buNone/>
            </a:pPr>
            <a:r>
              <a:rPr lang="en-US" sz="2600" b="1" dirty="0">
                <a:solidFill>
                  <a:srgbClr val="232F3E"/>
                </a:solidFill>
                <a:latin typeface="Arial" pitchFamily="34" charset="0"/>
                <a:ea typeface="Arial" pitchFamily="34" charset="-122"/>
                <a:cs typeface="Arial" pitchFamily="34" charset="-120"/>
              </a:rPr>
              <a:t>Sources</a:t>
            </a:r>
            <a:endParaRPr lang="en-US" sz="2600" dirty="0"/>
          </a:p>
        </p:txBody>
      </p:sp>
      <p:sp>
        <p:nvSpPr>
          <p:cNvPr id="4" name="Text 2"/>
          <p:cNvSpPr/>
          <p:nvPr/>
        </p:nvSpPr>
        <p:spPr>
          <a:xfrm>
            <a:off x="548640" y="1554480"/>
            <a:ext cx="5486400" cy="457200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Amazon.com, Inc. (2025). Form 10-K, FY2024. U.S. SEC.</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BCG. (2026). Last-mile delivery accounts for 50–60% of total parcel costs.</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California Attorney General. (2023). California Consumer Privacy Act (CCPA).</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CCJ Digital. (2026). Supply chain cyber threats: malicious AI and logistics data.</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COSO. (2017). Enterprise risk management-Integrating with strategy and performance.</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Cybersecurity and Infrastructure Security Agency. (2019). Binding Operational Directive 19-02: Vulnerability remediation requirements for internet-accessible systems.</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Deep Tech Nation Switzerland. (2026). Amazon acquires RIVR: An ETH Zurich robotics spinout.</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European Parliament. (2024). Regulation (EU) 2024/1689 (EU AI Act).</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FedEx Corporation. (2024). FedEx Surround platform overview.</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Federal Trade Commission. (2023). FTC v. Amazon.com, Inc.</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Financial Content. (2026). Amazon (AMZN) 2026 analysis: The $200B AI and aerospace pivot.</a:t>
            </a:r>
            <a:endParaRPr lang="en-US" sz="1050" dirty="0"/>
          </a:p>
        </p:txBody>
      </p:sp>
      <p:sp>
        <p:nvSpPr>
          <p:cNvPr id="5" name="Text 3"/>
          <p:cNvSpPr/>
          <p:nvPr/>
        </p:nvSpPr>
        <p:spPr>
          <a:xfrm>
            <a:off x="6309360" y="1554480"/>
            <a:ext cx="5303520" cy="4572000"/>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Fleisher, C. S., &amp; Bensoussan, B. E. (2015). Business and competitive analysis (2nd ed.). FT Press.</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HubSpot. (2024). 2024 sales trends report. HubSpot, Inc.</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IBM Security. (2025). Cost of a data breach report 2025.</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INFORMS. (2016). UPS ORION - Franz Edelman Award.</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ISO. (2018). ISO 31000:2018 Risk management-Guidelines.</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NIST. (2023). AI Risk Management Framework (AI RMF 1.0).</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Oracle (2024); SAP SE (2024). Logistics / Transportation Management platform overviews.</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RAIN Group. (2023). Win rate benchmarks: Top-performing sales organizations.</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Shuaibu, A. S., Mahmoud, A. S., &amp; Sheltami, T. R. (2025). A review of last-mile delivery optimization. Drones, 9(3), 158.</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Skadden. (2025). M&amp;A in the AI era: antitrust and national-security considerations.</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Statista. (2024). Last-mile share of total shipping costs, 2018–2023.</a:t>
            </a:r>
            <a:endParaRPr lang="en-US" sz="1050" dirty="0"/>
          </a:p>
          <a:p>
            <a:pPr marL="342900" indent="-342900">
              <a:spcAft>
                <a:spcPts val="800"/>
              </a:spcAft>
              <a:buSzPct val="100000"/>
              <a:buChar char="•"/>
            </a:pPr>
            <a:r>
              <a:rPr lang="en-US" sz="1050" dirty="0">
                <a:solidFill>
                  <a:srgbClr val="232F3E"/>
                </a:solidFill>
                <a:latin typeface="Arial" pitchFamily="34" charset="0"/>
                <a:ea typeface="Arial" pitchFamily="34" charset="-122"/>
                <a:cs typeface="Arial" pitchFamily="34" charset="-120"/>
              </a:rPr>
              <a:t>Walmart Inc. (2024). Form 10-K - AI supply-chain transformation.</a:t>
            </a:r>
            <a:endParaRPr lang="en-US" sz="1050" dirty="0"/>
          </a:p>
        </p:txBody>
      </p:sp>
      <p:sp>
        <p:nvSpPr>
          <p:cNvPr id="6" name="Text 4"/>
          <p:cNvSpPr/>
          <p:nvPr/>
        </p:nvSpPr>
        <p:spPr>
          <a:xfrm>
            <a:off x="548640" y="6473952"/>
            <a:ext cx="11064240" cy="274320"/>
          </a:xfrm>
          <a:prstGeom prst="rect">
            <a:avLst/>
          </a:prstGeom>
          <a:noFill/>
          <a:ln/>
        </p:spPr>
        <p:txBody>
          <a:bodyPr wrap="square" lIns="0" tIns="0" rIns="0" bIns="0" rtlCol="0" anchor="ctr"/>
          <a:lstStyle/>
          <a:p>
            <a:pPr marL="0" indent="0" algn="l">
              <a:buNone/>
            </a:pPr>
            <a:r>
              <a:rPr lang="en-US" sz="900" dirty="0">
                <a:solidFill>
                  <a:srgbClr val="5A6470"/>
                </a:solidFill>
                <a:latin typeface="Arial" pitchFamily="34" charset="0"/>
                <a:ea typeface="Arial" pitchFamily="34" charset="-122"/>
                <a:cs typeface="Arial" pitchFamily="34" charset="-120"/>
              </a:rPr>
              <a:t>  14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2574</Words>
  <Application>Microsoft Office PowerPoint</Application>
  <PresentationFormat>Custom</PresentationFormat>
  <Paragraphs>364</Paragraphs>
  <Slides>14</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14</vt:i4>
      </vt:variant>
    </vt:vector>
  </HeadingPairs>
  <TitlesOfParts>
    <vt:vector size="16"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Enterprise Risk Assessment - Amazon RIVR Acquisition</dc:title>
  <dc:subject>PptxGenJS Presentation</dc:subject>
  <dc:creator>Group 6</dc:creator>
  <cp:lastModifiedBy>Victoria Fafa Kpetigo</cp:lastModifiedBy>
  <cp:revision>7</cp:revision>
  <dcterms:created xsi:type="dcterms:W3CDTF">2026-06-25T08:29:10Z</dcterms:created>
  <dcterms:modified xsi:type="dcterms:W3CDTF">2026-06-28T02:49:19Z</dcterms:modified>
</cp:coreProperties>
</file>